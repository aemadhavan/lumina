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emadhavan/momentsearch" TargetMode="External"/><Relationship Id="rId1" Type="http://schemas.openxmlformats.org/officeDocument/2006/relationships/hyperlink" Target="https://momentsearch-api-production.up.railway.app/" TargetMode="Externa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LPZh9BOjkQs" TargetMode="Externa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emadhavan/momentsearch" TargetMode="External"/><Relationship Id="rId1" Type="http://schemas.openxmlformats.org/officeDocument/2006/relationships/hyperlink" Target="https://momentsearch-api-production.up.railway.app/" TargetMode="Externa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LPZh9BOjkQs" TargetMode="External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0BA777-AC3D-4DAB-8F31-D94922957616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36111B1-E444-4E45-A4B7-21DB83E83BA1}">
      <dgm:prSet/>
      <dgm:spPr/>
      <dgm:t>
        <a:bodyPr/>
        <a:lstStyle/>
        <a:p>
          <a:r>
            <a:rPr lang="en-NZ" b="1"/>
            <a:t>Title:</a:t>
          </a:r>
          <a:r>
            <a:rPr lang="en-NZ"/>
            <a:t> From Semantic Search to Moment RAG: Precision Multimodal Retrieval at Scale</a:t>
          </a:r>
          <a:endParaRPr lang="en-US"/>
        </a:p>
      </dgm:t>
    </dgm:pt>
    <dgm:pt modelId="{FDC353CB-CE96-47E5-B299-344828F55062}" type="parTrans" cxnId="{4704F6B6-5684-4F56-B726-C212EC46808E}">
      <dgm:prSet/>
      <dgm:spPr/>
      <dgm:t>
        <a:bodyPr/>
        <a:lstStyle/>
        <a:p>
          <a:endParaRPr lang="en-US"/>
        </a:p>
      </dgm:t>
    </dgm:pt>
    <dgm:pt modelId="{6D26ACF2-7D54-43CD-9DE1-0EE291B52AA9}" type="sibTrans" cxnId="{4704F6B6-5684-4F56-B726-C212EC46808E}">
      <dgm:prSet/>
      <dgm:spPr/>
      <dgm:t>
        <a:bodyPr/>
        <a:lstStyle/>
        <a:p>
          <a:endParaRPr lang="en-US"/>
        </a:p>
      </dgm:t>
    </dgm:pt>
    <dgm:pt modelId="{99C5BE4A-25C7-4F86-B046-C26A7C463E54}">
      <dgm:prSet/>
      <dgm:spPr/>
      <dgm:t>
        <a:bodyPr/>
        <a:lstStyle/>
        <a:p>
          <a:r>
            <a:rPr lang="en-NZ" b="1"/>
            <a:t>Live App:</a:t>
          </a:r>
          <a:r>
            <a:rPr lang="en-NZ"/>
            <a:t> </a:t>
          </a:r>
          <a:r>
            <a:rPr lang="en-NZ">
              <a:hlinkClick xmlns:r="http://schemas.openxmlformats.org/officeDocument/2006/relationships" r:id="rId1"/>
            </a:rPr>
            <a:t>https://momentsearch-api-production.up.railway.app</a:t>
          </a:r>
          <a:endParaRPr lang="en-US"/>
        </a:p>
      </dgm:t>
    </dgm:pt>
    <dgm:pt modelId="{64F2ADF6-A4BA-4881-A48B-31F1DDC58895}" type="parTrans" cxnId="{CFE5CAED-FAE5-4DCF-A200-94E13CE4D041}">
      <dgm:prSet/>
      <dgm:spPr/>
      <dgm:t>
        <a:bodyPr/>
        <a:lstStyle/>
        <a:p>
          <a:endParaRPr lang="en-US"/>
        </a:p>
      </dgm:t>
    </dgm:pt>
    <dgm:pt modelId="{9433EF90-1A74-4CD1-BB9C-3BAB8D9B4B7F}" type="sibTrans" cxnId="{CFE5CAED-FAE5-4DCF-A200-94E13CE4D041}">
      <dgm:prSet/>
      <dgm:spPr/>
      <dgm:t>
        <a:bodyPr/>
        <a:lstStyle/>
        <a:p>
          <a:endParaRPr lang="en-US"/>
        </a:p>
      </dgm:t>
    </dgm:pt>
    <dgm:pt modelId="{42D194A1-8A88-458E-BB39-740993BB9134}">
      <dgm:prSet/>
      <dgm:spPr/>
      <dgm:t>
        <a:bodyPr/>
        <a:lstStyle/>
        <a:p>
          <a:r>
            <a:rPr lang="en-NZ" b="1"/>
            <a:t>GitHub:</a:t>
          </a:r>
          <a:r>
            <a:rPr lang="en-NZ"/>
            <a:t> </a:t>
          </a:r>
          <a:r>
            <a:rPr lang="en-NZ">
              <a:hlinkClick xmlns:r="http://schemas.openxmlformats.org/officeDocument/2006/relationships" r:id="rId2"/>
            </a:rPr>
            <a:t>https://github.com/aemadhavan/momentsearch</a:t>
          </a:r>
          <a:endParaRPr lang="en-US"/>
        </a:p>
      </dgm:t>
    </dgm:pt>
    <dgm:pt modelId="{3F51324E-1894-4E13-B5F7-86026F9481FD}" type="parTrans" cxnId="{1FC5C542-1EBD-468C-80CA-C666061BDC57}">
      <dgm:prSet/>
      <dgm:spPr/>
      <dgm:t>
        <a:bodyPr/>
        <a:lstStyle/>
        <a:p>
          <a:endParaRPr lang="en-US"/>
        </a:p>
      </dgm:t>
    </dgm:pt>
    <dgm:pt modelId="{1A81CA38-B5DE-45BD-8092-563E926EC2F5}" type="sibTrans" cxnId="{1FC5C542-1EBD-468C-80CA-C666061BDC57}">
      <dgm:prSet/>
      <dgm:spPr/>
      <dgm:t>
        <a:bodyPr/>
        <a:lstStyle/>
        <a:p>
          <a:endParaRPr lang="en-US"/>
        </a:p>
      </dgm:t>
    </dgm:pt>
    <dgm:pt modelId="{629AA1F3-C5C4-418C-AAAC-213BEEFA472A}" type="pres">
      <dgm:prSet presAssocID="{290BA777-AC3D-4DAB-8F31-D9492295761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EC48166-2CE8-4C61-B9C1-0012152681BA}" type="pres">
      <dgm:prSet presAssocID="{736111B1-E444-4E45-A4B7-21DB83E83BA1}" presName="hierRoot1" presStyleCnt="0"/>
      <dgm:spPr/>
    </dgm:pt>
    <dgm:pt modelId="{0B2139B6-208C-4CFA-9CC5-0F7ADF632811}" type="pres">
      <dgm:prSet presAssocID="{736111B1-E444-4E45-A4B7-21DB83E83BA1}" presName="composite" presStyleCnt="0"/>
      <dgm:spPr/>
    </dgm:pt>
    <dgm:pt modelId="{23DF0C20-244C-4012-B460-50FBB243E2A3}" type="pres">
      <dgm:prSet presAssocID="{736111B1-E444-4E45-A4B7-21DB83E83BA1}" presName="background" presStyleLbl="node0" presStyleIdx="0" presStyleCnt="3"/>
      <dgm:spPr/>
    </dgm:pt>
    <dgm:pt modelId="{38888DC5-C2F9-4F5D-B31F-5EEDE2433D31}" type="pres">
      <dgm:prSet presAssocID="{736111B1-E444-4E45-A4B7-21DB83E83BA1}" presName="text" presStyleLbl="fgAcc0" presStyleIdx="0" presStyleCnt="3">
        <dgm:presLayoutVars>
          <dgm:chPref val="3"/>
        </dgm:presLayoutVars>
      </dgm:prSet>
      <dgm:spPr/>
    </dgm:pt>
    <dgm:pt modelId="{D0D529EA-47D6-402D-B7EE-A91192631252}" type="pres">
      <dgm:prSet presAssocID="{736111B1-E444-4E45-A4B7-21DB83E83BA1}" presName="hierChild2" presStyleCnt="0"/>
      <dgm:spPr/>
    </dgm:pt>
    <dgm:pt modelId="{B607336D-3D47-414B-BB6D-0F20C09EF610}" type="pres">
      <dgm:prSet presAssocID="{99C5BE4A-25C7-4F86-B046-C26A7C463E54}" presName="hierRoot1" presStyleCnt="0"/>
      <dgm:spPr/>
    </dgm:pt>
    <dgm:pt modelId="{C6FF92CB-483E-4DC9-89C7-6711167E6AFC}" type="pres">
      <dgm:prSet presAssocID="{99C5BE4A-25C7-4F86-B046-C26A7C463E54}" presName="composite" presStyleCnt="0"/>
      <dgm:spPr/>
    </dgm:pt>
    <dgm:pt modelId="{3AEBFD1F-36DA-4986-85B4-24E37DA8AE0F}" type="pres">
      <dgm:prSet presAssocID="{99C5BE4A-25C7-4F86-B046-C26A7C463E54}" presName="background" presStyleLbl="node0" presStyleIdx="1" presStyleCnt="3"/>
      <dgm:spPr/>
    </dgm:pt>
    <dgm:pt modelId="{DE947E26-789A-4464-AB53-C4A17FE1CAF9}" type="pres">
      <dgm:prSet presAssocID="{99C5BE4A-25C7-4F86-B046-C26A7C463E54}" presName="text" presStyleLbl="fgAcc0" presStyleIdx="1" presStyleCnt="3">
        <dgm:presLayoutVars>
          <dgm:chPref val="3"/>
        </dgm:presLayoutVars>
      </dgm:prSet>
      <dgm:spPr/>
    </dgm:pt>
    <dgm:pt modelId="{F1AD84BE-D7CB-49C8-B748-4CC8F8F60043}" type="pres">
      <dgm:prSet presAssocID="{99C5BE4A-25C7-4F86-B046-C26A7C463E54}" presName="hierChild2" presStyleCnt="0"/>
      <dgm:spPr/>
    </dgm:pt>
    <dgm:pt modelId="{9A9D8EF1-DECE-497B-8ADF-4DCDC0443FFA}" type="pres">
      <dgm:prSet presAssocID="{42D194A1-8A88-458E-BB39-740993BB9134}" presName="hierRoot1" presStyleCnt="0"/>
      <dgm:spPr/>
    </dgm:pt>
    <dgm:pt modelId="{391E1E0D-9CB3-4A7A-90DD-C28DE3A90ECF}" type="pres">
      <dgm:prSet presAssocID="{42D194A1-8A88-458E-BB39-740993BB9134}" presName="composite" presStyleCnt="0"/>
      <dgm:spPr/>
    </dgm:pt>
    <dgm:pt modelId="{4A50C6D5-1D9D-457C-88CD-625C5E13135C}" type="pres">
      <dgm:prSet presAssocID="{42D194A1-8A88-458E-BB39-740993BB9134}" presName="background" presStyleLbl="node0" presStyleIdx="2" presStyleCnt="3"/>
      <dgm:spPr/>
    </dgm:pt>
    <dgm:pt modelId="{309FD392-7039-46BC-BEAC-0369FD80A3AD}" type="pres">
      <dgm:prSet presAssocID="{42D194A1-8A88-458E-BB39-740993BB9134}" presName="text" presStyleLbl="fgAcc0" presStyleIdx="2" presStyleCnt="3">
        <dgm:presLayoutVars>
          <dgm:chPref val="3"/>
        </dgm:presLayoutVars>
      </dgm:prSet>
      <dgm:spPr/>
    </dgm:pt>
    <dgm:pt modelId="{6F6DE07E-FCD5-4332-BD34-982BC9D1EBFE}" type="pres">
      <dgm:prSet presAssocID="{42D194A1-8A88-458E-BB39-740993BB9134}" presName="hierChild2" presStyleCnt="0"/>
      <dgm:spPr/>
    </dgm:pt>
  </dgm:ptLst>
  <dgm:cxnLst>
    <dgm:cxn modelId="{A4846410-4B39-4F6D-AC46-5D4C87A8CA5E}" type="presOf" srcId="{42D194A1-8A88-458E-BB39-740993BB9134}" destId="{309FD392-7039-46BC-BEAC-0369FD80A3AD}" srcOrd="0" destOrd="0" presId="urn:microsoft.com/office/officeart/2005/8/layout/hierarchy1"/>
    <dgm:cxn modelId="{D97D0918-0575-48F5-80D9-89BD762DBAE6}" type="presOf" srcId="{99C5BE4A-25C7-4F86-B046-C26A7C463E54}" destId="{DE947E26-789A-4464-AB53-C4A17FE1CAF9}" srcOrd="0" destOrd="0" presId="urn:microsoft.com/office/officeart/2005/8/layout/hierarchy1"/>
    <dgm:cxn modelId="{1FC5C542-1EBD-468C-80CA-C666061BDC57}" srcId="{290BA777-AC3D-4DAB-8F31-D94922957616}" destId="{42D194A1-8A88-458E-BB39-740993BB9134}" srcOrd="2" destOrd="0" parTransId="{3F51324E-1894-4E13-B5F7-86026F9481FD}" sibTransId="{1A81CA38-B5DE-45BD-8092-563E926EC2F5}"/>
    <dgm:cxn modelId="{B670228B-4626-4659-BF5C-660DE3E32DFD}" type="presOf" srcId="{290BA777-AC3D-4DAB-8F31-D94922957616}" destId="{629AA1F3-C5C4-418C-AAAC-213BEEFA472A}" srcOrd="0" destOrd="0" presId="urn:microsoft.com/office/officeart/2005/8/layout/hierarchy1"/>
    <dgm:cxn modelId="{A90AC0B3-6BF3-4002-80D1-4CD04CEEF794}" type="presOf" srcId="{736111B1-E444-4E45-A4B7-21DB83E83BA1}" destId="{38888DC5-C2F9-4F5D-B31F-5EEDE2433D31}" srcOrd="0" destOrd="0" presId="urn:microsoft.com/office/officeart/2005/8/layout/hierarchy1"/>
    <dgm:cxn modelId="{4704F6B6-5684-4F56-B726-C212EC46808E}" srcId="{290BA777-AC3D-4DAB-8F31-D94922957616}" destId="{736111B1-E444-4E45-A4B7-21DB83E83BA1}" srcOrd="0" destOrd="0" parTransId="{FDC353CB-CE96-47E5-B299-344828F55062}" sibTransId="{6D26ACF2-7D54-43CD-9DE1-0EE291B52AA9}"/>
    <dgm:cxn modelId="{CFE5CAED-FAE5-4DCF-A200-94E13CE4D041}" srcId="{290BA777-AC3D-4DAB-8F31-D94922957616}" destId="{99C5BE4A-25C7-4F86-B046-C26A7C463E54}" srcOrd="1" destOrd="0" parTransId="{64F2ADF6-A4BA-4881-A48B-31F1DDC58895}" sibTransId="{9433EF90-1A74-4CD1-BB9C-3BAB8D9B4B7F}"/>
    <dgm:cxn modelId="{B7919D4B-9FD0-45BF-997B-E9471DEE3B79}" type="presParOf" srcId="{629AA1F3-C5C4-418C-AAAC-213BEEFA472A}" destId="{DEC48166-2CE8-4C61-B9C1-0012152681BA}" srcOrd="0" destOrd="0" presId="urn:microsoft.com/office/officeart/2005/8/layout/hierarchy1"/>
    <dgm:cxn modelId="{E1019A6A-82BA-45E8-A778-2FBB2F1EF130}" type="presParOf" srcId="{DEC48166-2CE8-4C61-B9C1-0012152681BA}" destId="{0B2139B6-208C-4CFA-9CC5-0F7ADF632811}" srcOrd="0" destOrd="0" presId="urn:microsoft.com/office/officeart/2005/8/layout/hierarchy1"/>
    <dgm:cxn modelId="{F6A0DE8D-8AB7-46A5-9176-608914FFC3C9}" type="presParOf" srcId="{0B2139B6-208C-4CFA-9CC5-0F7ADF632811}" destId="{23DF0C20-244C-4012-B460-50FBB243E2A3}" srcOrd="0" destOrd="0" presId="urn:microsoft.com/office/officeart/2005/8/layout/hierarchy1"/>
    <dgm:cxn modelId="{B0A5361F-F3A6-4495-B204-B4827F1D7250}" type="presParOf" srcId="{0B2139B6-208C-4CFA-9CC5-0F7ADF632811}" destId="{38888DC5-C2F9-4F5D-B31F-5EEDE2433D31}" srcOrd="1" destOrd="0" presId="urn:microsoft.com/office/officeart/2005/8/layout/hierarchy1"/>
    <dgm:cxn modelId="{937C86CF-8E82-432F-AB3E-629D51DA9DF1}" type="presParOf" srcId="{DEC48166-2CE8-4C61-B9C1-0012152681BA}" destId="{D0D529EA-47D6-402D-B7EE-A91192631252}" srcOrd="1" destOrd="0" presId="urn:microsoft.com/office/officeart/2005/8/layout/hierarchy1"/>
    <dgm:cxn modelId="{5004216E-0966-4252-8E3A-5753EA0BE97C}" type="presParOf" srcId="{629AA1F3-C5C4-418C-AAAC-213BEEFA472A}" destId="{B607336D-3D47-414B-BB6D-0F20C09EF610}" srcOrd="1" destOrd="0" presId="urn:microsoft.com/office/officeart/2005/8/layout/hierarchy1"/>
    <dgm:cxn modelId="{3C296F0E-8BAF-412B-B6F8-13BF7101ABA5}" type="presParOf" srcId="{B607336D-3D47-414B-BB6D-0F20C09EF610}" destId="{C6FF92CB-483E-4DC9-89C7-6711167E6AFC}" srcOrd="0" destOrd="0" presId="urn:microsoft.com/office/officeart/2005/8/layout/hierarchy1"/>
    <dgm:cxn modelId="{6DE1BDCE-EFAE-4CD6-B389-8A8A77ECDE72}" type="presParOf" srcId="{C6FF92CB-483E-4DC9-89C7-6711167E6AFC}" destId="{3AEBFD1F-36DA-4986-85B4-24E37DA8AE0F}" srcOrd="0" destOrd="0" presId="urn:microsoft.com/office/officeart/2005/8/layout/hierarchy1"/>
    <dgm:cxn modelId="{2B8731DF-81D7-4ACD-869B-4390C5197616}" type="presParOf" srcId="{C6FF92CB-483E-4DC9-89C7-6711167E6AFC}" destId="{DE947E26-789A-4464-AB53-C4A17FE1CAF9}" srcOrd="1" destOrd="0" presId="urn:microsoft.com/office/officeart/2005/8/layout/hierarchy1"/>
    <dgm:cxn modelId="{6530DC27-E6D5-4F3E-9220-E9CC65502726}" type="presParOf" srcId="{B607336D-3D47-414B-BB6D-0F20C09EF610}" destId="{F1AD84BE-D7CB-49C8-B748-4CC8F8F60043}" srcOrd="1" destOrd="0" presId="urn:microsoft.com/office/officeart/2005/8/layout/hierarchy1"/>
    <dgm:cxn modelId="{3C61E50F-3F3A-4167-B364-1E3AA7DBCDCF}" type="presParOf" srcId="{629AA1F3-C5C4-418C-AAAC-213BEEFA472A}" destId="{9A9D8EF1-DECE-497B-8ADF-4DCDC0443FFA}" srcOrd="2" destOrd="0" presId="urn:microsoft.com/office/officeart/2005/8/layout/hierarchy1"/>
    <dgm:cxn modelId="{2192D798-1699-45B0-B011-B6F9166118E6}" type="presParOf" srcId="{9A9D8EF1-DECE-497B-8ADF-4DCDC0443FFA}" destId="{391E1E0D-9CB3-4A7A-90DD-C28DE3A90ECF}" srcOrd="0" destOrd="0" presId="urn:microsoft.com/office/officeart/2005/8/layout/hierarchy1"/>
    <dgm:cxn modelId="{3A26F0F7-2B8D-4330-A557-6AD15BCD1B02}" type="presParOf" srcId="{391E1E0D-9CB3-4A7A-90DD-C28DE3A90ECF}" destId="{4A50C6D5-1D9D-457C-88CD-625C5E13135C}" srcOrd="0" destOrd="0" presId="urn:microsoft.com/office/officeart/2005/8/layout/hierarchy1"/>
    <dgm:cxn modelId="{7A15F585-13E6-402A-877E-10BB32D9514A}" type="presParOf" srcId="{391E1E0D-9CB3-4A7A-90DD-C28DE3A90ECF}" destId="{309FD392-7039-46BC-BEAC-0369FD80A3AD}" srcOrd="1" destOrd="0" presId="urn:microsoft.com/office/officeart/2005/8/layout/hierarchy1"/>
    <dgm:cxn modelId="{6AB0FE06-9D0B-484A-B3AF-D78953459698}" type="presParOf" srcId="{9A9D8EF1-DECE-497B-8ADF-4DCDC0443FFA}" destId="{6F6DE07E-FCD5-4332-BD34-982BC9D1EB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C0FCD1-7129-4D6B-B127-ECE12262037D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BB4898D-529A-41BB-8D1E-B19F59B16825}">
      <dgm:prSet/>
      <dgm:spPr/>
      <dgm:t>
        <a:bodyPr/>
        <a:lstStyle/>
        <a:p>
          <a:r>
            <a:rPr lang="en-NZ" b="1"/>
            <a:t>Selected Video:</a:t>
          </a:r>
          <a:r>
            <a:rPr lang="en-NZ"/>
            <a:t> 3Blue1Brown — </a:t>
          </a:r>
          <a:r>
            <a:rPr lang="en-NZ" i="1"/>
            <a:t>"Large Language Models explained briefly"</a:t>
          </a:r>
          <a:r>
            <a:rPr lang="en-NZ"/>
            <a:t> (8 mins)</a:t>
          </a:r>
          <a:endParaRPr lang="en-US"/>
        </a:p>
      </dgm:t>
    </dgm:pt>
    <dgm:pt modelId="{2593CDD5-9CB6-4E43-94F3-4C949EADF1D8}" type="parTrans" cxnId="{14C59A9F-C781-47A7-BD10-474ED6B9A233}">
      <dgm:prSet/>
      <dgm:spPr/>
      <dgm:t>
        <a:bodyPr/>
        <a:lstStyle/>
        <a:p>
          <a:endParaRPr lang="en-US"/>
        </a:p>
      </dgm:t>
    </dgm:pt>
    <dgm:pt modelId="{2F08353D-CA7A-4980-B79F-A0FE3271159A}" type="sibTrans" cxnId="{14C59A9F-C781-47A7-BD10-474ED6B9A233}">
      <dgm:prSet/>
      <dgm:spPr/>
      <dgm:t>
        <a:bodyPr/>
        <a:lstStyle/>
        <a:p>
          <a:endParaRPr lang="en-US"/>
        </a:p>
      </dgm:t>
    </dgm:pt>
    <dgm:pt modelId="{B5ED662B-05B8-4E87-834A-40DB8E70E998}">
      <dgm:prSet/>
      <dgm:spPr/>
      <dgm:t>
        <a:bodyPr/>
        <a:lstStyle/>
        <a:p>
          <a:r>
            <a:rPr lang="en-NZ"/>
            <a:t>URL: </a:t>
          </a:r>
          <a:r>
            <a:rPr lang="en-NZ">
              <a:hlinkClick xmlns:r="http://schemas.openxmlformats.org/officeDocument/2006/relationships" r:id="rId1"/>
            </a:rPr>
            <a:t>https://youtu.be/LPZh9BOjkQs</a:t>
          </a:r>
          <a:endParaRPr lang="en-US"/>
        </a:p>
      </dgm:t>
    </dgm:pt>
    <dgm:pt modelId="{1376B545-5BF0-4D27-A446-EDC44FD05859}" type="parTrans" cxnId="{0D0E7509-4728-4095-AFF1-F1AD0A18F5E6}">
      <dgm:prSet/>
      <dgm:spPr/>
      <dgm:t>
        <a:bodyPr/>
        <a:lstStyle/>
        <a:p>
          <a:endParaRPr lang="en-US"/>
        </a:p>
      </dgm:t>
    </dgm:pt>
    <dgm:pt modelId="{EC67720E-B0DC-4171-8DFC-C7755C552C96}" type="sibTrans" cxnId="{0D0E7509-4728-4095-AFF1-F1AD0A18F5E6}">
      <dgm:prSet/>
      <dgm:spPr/>
      <dgm:t>
        <a:bodyPr/>
        <a:lstStyle/>
        <a:p>
          <a:endParaRPr lang="en-US"/>
        </a:p>
      </dgm:t>
    </dgm:pt>
    <dgm:pt modelId="{F1B566E7-22D1-425B-A638-A9993281B3C3}">
      <dgm:prSet/>
      <dgm:spPr/>
      <dgm:t>
        <a:bodyPr/>
        <a:lstStyle/>
        <a:p>
          <a:r>
            <a:rPr lang="en-NZ" b="1"/>
            <a:t>Why Chosen:</a:t>
          </a:r>
          <a:endParaRPr lang="en-US"/>
        </a:p>
      </dgm:t>
    </dgm:pt>
    <dgm:pt modelId="{020E0B7F-3D17-4CEA-AAAC-08A3F7771BDD}" type="parTrans" cxnId="{571926AB-002F-4EE3-A861-13F90D901975}">
      <dgm:prSet/>
      <dgm:spPr/>
      <dgm:t>
        <a:bodyPr/>
        <a:lstStyle/>
        <a:p>
          <a:endParaRPr lang="en-US"/>
        </a:p>
      </dgm:t>
    </dgm:pt>
    <dgm:pt modelId="{6E004033-6AB5-4A4B-B2BF-1B186731EFEF}" type="sibTrans" cxnId="{571926AB-002F-4EE3-A861-13F90D901975}">
      <dgm:prSet/>
      <dgm:spPr/>
      <dgm:t>
        <a:bodyPr/>
        <a:lstStyle/>
        <a:p>
          <a:endParaRPr lang="en-US"/>
        </a:p>
      </dgm:t>
    </dgm:pt>
    <dgm:pt modelId="{A76023BE-0D83-43C3-9D83-981D65555EC2}">
      <dgm:prSet/>
      <dgm:spPr/>
      <dgm:t>
        <a:bodyPr/>
        <a:lstStyle/>
        <a:p>
          <a:r>
            <a:rPr lang="en-NZ" b="1"/>
            <a:t>High Visual-Semantic Coupling:</a:t>
          </a:r>
          <a:r>
            <a:rPr lang="en-NZ"/>
            <a:t> The spoken transcript frequently refers to on-screen animations (attention matrices, high-dimensional vector spaces). Spoken text alone is ambiguous without synchronized visual keyframes.</a:t>
          </a:r>
          <a:endParaRPr lang="en-US"/>
        </a:p>
      </dgm:t>
    </dgm:pt>
    <dgm:pt modelId="{DC748808-7615-45D8-B429-6D9291E99B33}" type="parTrans" cxnId="{9AFC26AC-1577-421A-BF4C-94261A77F869}">
      <dgm:prSet/>
      <dgm:spPr/>
      <dgm:t>
        <a:bodyPr/>
        <a:lstStyle/>
        <a:p>
          <a:endParaRPr lang="en-US"/>
        </a:p>
      </dgm:t>
    </dgm:pt>
    <dgm:pt modelId="{AEAF86CE-F849-4A4A-A8FE-844F90B0E8D0}" type="sibTrans" cxnId="{9AFC26AC-1577-421A-BF4C-94261A77F869}">
      <dgm:prSet/>
      <dgm:spPr/>
      <dgm:t>
        <a:bodyPr/>
        <a:lstStyle/>
        <a:p>
          <a:endParaRPr lang="en-US"/>
        </a:p>
      </dgm:t>
    </dgm:pt>
    <dgm:pt modelId="{3F57E64D-A79F-4353-9C8B-95C86C372355}">
      <dgm:prSet/>
      <dgm:spPr/>
      <dgm:t>
        <a:bodyPr/>
        <a:lstStyle/>
        <a:p>
          <a:r>
            <a:rPr lang="en-NZ" b="1"/>
            <a:t>Clear Conceptual Transitions:</a:t>
          </a:r>
          <a:r>
            <a:rPr lang="en-NZ"/>
            <a:t> Features distinct thematic boundaries (Tokenization → Vector Embeddings → Attention Matrices → Next-Token Softmax Sampling).</a:t>
          </a:r>
          <a:endParaRPr lang="en-US"/>
        </a:p>
      </dgm:t>
    </dgm:pt>
    <dgm:pt modelId="{44578163-6B87-4C2B-A938-9458AD37819C}" type="parTrans" cxnId="{FEB64659-2FD2-48B6-A0CF-7FE1ED254C18}">
      <dgm:prSet/>
      <dgm:spPr/>
      <dgm:t>
        <a:bodyPr/>
        <a:lstStyle/>
        <a:p>
          <a:endParaRPr lang="en-US"/>
        </a:p>
      </dgm:t>
    </dgm:pt>
    <dgm:pt modelId="{9CC59A0E-1585-48E6-8D96-25D8561AF2AD}" type="sibTrans" cxnId="{FEB64659-2FD2-48B6-A0CF-7FE1ED254C18}">
      <dgm:prSet/>
      <dgm:spPr/>
      <dgm:t>
        <a:bodyPr/>
        <a:lstStyle/>
        <a:p>
          <a:endParaRPr lang="en-US"/>
        </a:p>
      </dgm:t>
    </dgm:pt>
    <dgm:pt modelId="{F313A0F3-FC83-4CD5-A63B-2DDB467CAD22}">
      <dgm:prSet/>
      <dgm:spPr/>
      <dgm:t>
        <a:bodyPr/>
        <a:lstStyle/>
        <a:p>
          <a:r>
            <a:rPr lang="en-NZ" b="1"/>
            <a:t>Precision Retrieval Benchmark:</a:t>
          </a:r>
          <a:r>
            <a:rPr lang="en-NZ"/>
            <a:t> Provides a ground-truth baseline to test whether retrieval returns fragmented sentences or complete visual-temporal moments with timestamped deep links.</a:t>
          </a:r>
          <a:endParaRPr lang="en-US"/>
        </a:p>
      </dgm:t>
    </dgm:pt>
    <dgm:pt modelId="{B13459FD-2D8C-411C-A8D8-DBE033A512E0}" type="parTrans" cxnId="{50016200-D7B9-440F-933A-D01F23338E52}">
      <dgm:prSet/>
      <dgm:spPr/>
      <dgm:t>
        <a:bodyPr/>
        <a:lstStyle/>
        <a:p>
          <a:endParaRPr lang="en-US"/>
        </a:p>
      </dgm:t>
    </dgm:pt>
    <dgm:pt modelId="{56D06746-6D10-4A80-9F86-77DAC67883DC}" type="sibTrans" cxnId="{50016200-D7B9-440F-933A-D01F23338E52}">
      <dgm:prSet/>
      <dgm:spPr/>
      <dgm:t>
        <a:bodyPr/>
        <a:lstStyle/>
        <a:p>
          <a:endParaRPr lang="en-US"/>
        </a:p>
      </dgm:t>
    </dgm:pt>
    <dgm:pt modelId="{66EC56F3-6C26-4B1C-9805-BEB952055FDF}" type="pres">
      <dgm:prSet presAssocID="{ECC0FCD1-7129-4D6B-B127-ECE12262037D}" presName="Name0" presStyleCnt="0">
        <dgm:presLayoutVars>
          <dgm:dir/>
          <dgm:animLvl val="lvl"/>
          <dgm:resizeHandles val="exact"/>
        </dgm:presLayoutVars>
      </dgm:prSet>
      <dgm:spPr/>
    </dgm:pt>
    <dgm:pt modelId="{3FECE87B-8835-4D11-906B-51F1CB515C7A}" type="pres">
      <dgm:prSet presAssocID="{ABB4898D-529A-41BB-8D1E-B19F59B16825}" presName="composite" presStyleCnt="0"/>
      <dgm:spPr/>
    </dgm:pt>
    <dgm:pt modelId="{94478B5A-33D1-4B24-8B1F-0B0F90A42B1F}" type="pres">
      <dgm:prSet presAssocID="{ABB4898D-529A-41BB-8D1E-B19F59B1682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78743F7-1018-4B6D-B554-3FE8E84CA2AC}" type="pres">
      <dgm:prSet presAssocID="{ABB4898D-529A-41BB-8D1E-B19F59B16825}" presName="desTx" presStyleLbl="alignAccFollowNode1" presStyleIdx="0" presStyleCnt="2">
        <dgm:presLayoutVars>
          <dgm:bulletEnabled val="1"/>
        </dgm:presLayoutVars>
      </dgm:prSet>
      <dgm:spPr/>
    </dgm:pt>
    <dgm:pt modelId="{715337FB-C846-45D7-9675-916989D7F07A}" type="pres">
      <dgm:prSet presAssocID="{2F08353D-CA7A-4980-B79F-A0FE3271159A}" presName="space" presStyleCnt="0"/>
      <dgm:spPr/>
    </dgm:pt>
    <dgm:pt modelId="{2F1FDA08-9660-4EB7-98F2-B9303CFE38EC}" type="pres">
      <dgm:prSet presAssocID="{F1B566E7-22D1-425B-A638-A9993281B3C3}" presName="composite" presStyleCnt="0"/>
      <dgm:spPr/>
    </dgm:pt>
    <dgm:pt modelId="{05EC4165-B84B-411E-9446-FDD9C2C95986}" type="pres">
      <dgm:prSet presAssocID="{F1B566E7-22D1-425B-A638-A9993281B3C3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77DC567-6CD5-4E33-A320-21AE3B07A138}" type="pres">
      <dgm:prSet presAssocID="{F1B566E7-22D1-425B-A638-A9993281B3C3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50016200-D7B9-440F-933A-D01F23338E52}" srcId="{F1B566E7-22D1-425B-A638-A9993281B3C3}" destId="{F313A0F3-FC83-4CD5-A63B-2DDB467CAD22}" srcOrd="2" destOrd="0" parTransId="{B13459FD-2D8C-411C-A8D8-DBE033A512E0}" sibTransId="{56D06746-6D10-4A80-9F86-77DAC67883DC}"/>
    <dgm:cxn modelId="{0D0E7509-4728-4095-AFF1-F1AD0A18F5E6}" srcId="{ABB4898D-529A-41BB-8D1E-B19F59B16825}" destId="{B5ED662B-05B8-4E87-834A-40DB8E70E998}" srcOrd="0" destOrd="0" parTransId="{1376B545-5BF0-4D27-A446-EDC44FD05859}" sibTransId="{EC67720E-B0DC-4171-8DFC-C7755C552C96}"/>
    <dgm:cxn modelId="{9CF7670E-BE38-4103-8DB1-22C442EA1559}" type="presOf" srcId="{3F57E64D-A79F-4353-9C8B-95C86C372355}" destId="{E77DC567-6CD5-4E33-A320-21AE3B07A138}" srcOrd="0" destOrd="1" presId="urn:microsoft.com/office/officeart/2005/8/layout/hList1"/>
    <dgm:cxn modelId="{AC1AAF18-D16B-487C-88E6-ECDE333FECB7}" type="presOf" srcId="{ABB4898D-529A-41BB-8D1E-B19F59B16825}" destId="{94478B5A-33D1-4B24-8B1F-0B0F90A42B1F}" srcOrd="0" destOrd="0" presId="urn:microsoft.com/office/officeart/2005/8/layout/hList1"/>
    <dgm:cxn modelId="{4A228260-9745-432D-A8D0-0002A57D6F4B}" type="presOf" srcId="{A76023BE-0D83-43C3-9D83-981D65555EC2}" destId="{E77DC567-6CD5-4E33-A320-21AE3B07A138}" srcOrd="0" destOrd="0" presId="urn:microsoft.com/office/officeart/2005/8/layout/hList1"/>
    <dgm:cxn modelId="{FEB64659-2FD2-48B6-A0CF-7FE1ED254C18}" srcId="{F1B566E7-22D1-425B-A638-A9993281B3C3}" destId="{3F57E64D-A79F-4353-9C8B-95C86C372355}" srcOrd="1" destOrd="0" parTransId="{44578163-6B87-4C2B-A938-9458AD37819C}" sibTransId="{9CC59A0E-1585-48E6-8D96-25D8561AF2AD}"/>
    <dgm:cxn modelId="{2191977C-0D01-4E50-8F4A-2C6C92C051D3}" type="presOf" srcId="{B5ED662B-05B8-4E87-834A-40DB8E70E998}" destId="{D78743F7-1018-4B6D-B554-3FE8E84CA2AC}" srcOrd="0" destOrd="0" presId="urn:microsoft.com/office/officeart/2005/8/layout/hList1"/>
    <dgm:cxn modelId="{14C59A9F-C781-47A7-BD10-474ED6B9A233}" srcId="{ECC0FCD1-7129-4D6B-B127-ECE12262037D}" destId="{ABB4898D-529A-41BB-8D1E-B19F59B16825}" srcOrd="0" destOrd="0" parTransId="{2593CDD5-9CB6-4E43-94F3-4C949EADF1D8}" sibTransId="{2F08353D-CA7A-4980-B79F-A0FE3271159A}"/>
    <dgm:cxn modelId="{571926AB-002F-4EE3-A861-13F90D901975}" srcId="{ECC0FCD1-7129-4D6B-B127-ECE12262037D}" destId="{F1B566E7-22D1-425B-A638-A9993281B3C3}" srcOrd="1" destOrd="0" parTransId="{020E0B7F-3D17-4CEA-AAAC-08A3F7771BDD}" sibTransId="{6E004033-6AB5-4A4B-B2BF-1B186731EFEF}"/>
    <dgm:cxn modelId="{9AFC26AC-1577-421A-BF4C-94261A77F869}" srcId="{F1B566E7-22D1-425B-A638-A9993281B3C3}" destId="{A76023BE-0D83-43C3-9D83-981D65555EC2}" srcOrd="0" destOrd="0" parTransId="{DC748808-7615-45D8-B429-6D9291E99B33}" sibTransId="{AEAF86CE-F849-4A4A-A8FE-844F90B0E8D0}"/>
    <dgm:cxn modelId="{0B9561CB-B6CF-46FE-912F-B122AE82B808}" type="presOf" srcId="{ECC0FCD1-7129-4D6B-B127-ECE12262037D}" destId="{66EC56F3-6C26-4B1C-9805-BEB952055FDF}" srcOrd="0" destOrd="0" presId="urn:microsoft.com/office/officeart/2005/8/layout/hList1"/>
    <dgm:cxn modelId="{DF0261DB-108B-4014-8946-543FBF8ABF8A}" type="presOf" srcId="{F313A0F3-FC83-4CD5-A63B-2DDB467CAD22}" destId="{E77DC567-6CD5-4E33-A320-21AE3B07A138}" srcOrd="0" destOrd="2" presId="urn:microsoft.com/office/officeart/2005/8/layout/hList1"/>
    <dgm:cxn modelId="{8FFFD0ED-041B-4083-86F3-2096A6785B6B}" type="presOf" srcId="{F1B566E7-22D1-425B-A638-A9993281B3C3}" destId="{05EC4165-B84B-411E-9446-FDD9C2C95986}" srcOrd="0" destOrd="0" presId="urn:microsoft.com/office/officeart/2005/8/layout/hList1"/>
    <dgm:cxn modelId="{47024763-1EB4-4FBA-8FB6-EEE6BB2F84D2}" type="presParOf" srcId="{66EC56F3-6C26-4B1C-9805-BEB952055FDF}" destId="{3FECE87B-8835-4D11-906B-51F1CB515C7A}" srcOrd="0" destOrd="0" presId="urn:microsoft.com/office/officeart/2005/8/layout/hList1"/>
    <dgm:cxn modelId="{4BF9EF5E-274B-4A02-9C3E-60ABE0E20FEF}" type="presParOf" srcId="{3FECE87B-8835-4D11-906B-51F1CB515C7A}" destId="{94478B5A-33D1-4B24-8B1F-0B0F90A42B1F}" srcOrd="0" destOrd="0" presId="urn:microsoft.com/office/officeart/2005/8/layout/hList1"/>
    <dgm:cxn modelId="{45E96045-26CF-48C1-8C1F-684F77FACCCD}" type="presParOf" srcId="{3FECE87B-8835-4D11-906B-51F1CB515C7A}" destId="{D78743F7-1018-4B6D-B554-3FE8E84CA2AC}" srcOrd="1" destOrd="0" presId="urn:microsoft.com/office/officeart/2005/8/layout/hList1"/>
    <dgm:cxn modelId="{C3841A96-A656-407D-89FE-8ADF84048B62}" type="presParOf" srcId="{66EC56F3-6C26-4B1C-9805-BEB952055FDF}" destId="{715337FB-C846-45D7-9675-916989D7F07A}" srcOrd="1" destOrd="0" presId="urn:microsoft.com/office/officeart/2005/8/layout/hList1"/>
    <dgm:cxn modelId="{F6ECDDD6-88B8-44B3-A02E-54F6FEFF5D47}" type="presParOf" srcId="{66EC56F3-6C26-4B1C-9805-BEB952055FDF}" destId="{2F1FDA08-9660-4EB7-98F2-B9303CFE38EC}" srcOrd="2" destOrd="0" presId="urn:microsoft.com/office/officeart/2005/8/layout/hList1"/>
    <dgm:cxn modelId="{6D751206-724F-4107-968D-5BDD46ED0D67}" type="presParOf" srcId="{2F1FDA08-9660-4EB7-98F2-B9303CFE38EC}" destId="{05EC4165-B84B-411E-9446-FDD9C2C95986}" srcOrd="0" destOrd="0" presId="urn:microsoft.com/office/officeart/2005/8/layout/hList1"/>
    <dgm:cxn modelId="{81C714A1-598C-41A0-BA94-7BDCB32C51B9}" type="presParOf" srcId="{2F1FDA08-9660-4EB7-98F2-B9303CFE38EC}" destId="{E77DC567-6CD5-4E33-A320-21AE3B07A13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F0219D-1B88-4AAE-8C26-281A4A83FE5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BFD253C-DD32-44C1-B524-837D8A1E0C25}">
      <dgm:prSet/>
      <dgm:spPr/>
      <dgm:t>
        <a:bodyPr/>
        <a:lstStyle/>
        <a:p>
          <a:pPr>
            <a:defRPr cap="all"/>
          </a:pPr>
          <a:r>
            <a:rPr lang="en-NZ" b="1"/>
            <a:t>100% Citation Grounding:</a:t>
          </a:r>
          <a:r>
            <a:rPr lang="en-NZ"/>
            <a:t> Zero citation hallucinations; all citations resolve to an existing ingested chunk.</a:t>
          </a:r>
          <a:endParaRPr lang="en-US"/>
        </a:p>
      </dgm:t>
    </dgm:pt>
    <dgm:pt modelId="{8A08726D-FF00-47A4-A622-B6990BA5D1FB}" type="parTrans" cxnId="{8D3AD3B4-8FFA-4453-88E7-FE4F431977B3}">
      <dgm:prSet/>
      <dgm:spPr/>
      <dgm:t>
        <a:bodyPr/>
        <a:lstStyle/>
        <a:p>
          <a:endParaRPr lang="en-US"/>
        </a:p>
      </dgm:t>
    </dgm:pt>
    <dgm:pt modelId="{5C9158F7-02EF-4A20-9945-989B0667FDCA}" type="sibTrans" cxnId="{8D3AD3B4-8FFA-4453-88E7-FE4F431977B3}">
      <dgm:prSet/>
      <dgm:spPr/>
      <dgm:t>
        <a:bodyPr/>
        <a:lstStyle/>
        <a:p>
          <a:endParaRPr lang="en-US"/>
        </a:p>
      </dgm:t>
    </dgm:pt>
    <dgm:pt modelId="{B6F63224-75FF-4056-8202-72E96C219BB3}">
      <dgm:prSet/>
      <dgm:spPr/>
      <dgm:t>
        <a:bodyPr/>
        <a:lstStyle/>
        <a:p>
          <a:pPr>
            <a:defRPr cap="all"/>
          </a:pPr>
          <a:r>
            <a:rPr lang="en-NZ" b="1"/>
            <a:t>SLA Benchmark Compliance:</a:t>
          </a:r>
          <a:r>
            <a:rPr lang="en-NZ"/>
            <a:t> Time-To-First-Token (TTFT) &lt; 350 ms, with streaming answer synthesis completing in &lt; 1.2s.</a:t>
          </a:r>
          <a:endParaRPr lang="en-US"/>
        </a:p>
      </dgm:t>
    </dgm:pt>
    <dgm:pt modelId="{8BFF31AE-EDFA-4100-B8BC-31D502F54A34}" type="parTrans" cxnId="{A73D3EA0-9773-45AD-96F5-B315571BD882}">
      <dgm:prSet/>
      <dgm:spPr/>
      <dgm:t>
        <a:bodyPr/>
        <a:lstStyle/>
        <a:p>
          <a:endParaRPr lang="en-US"/>
        </a:p>
      </dgm:t>
    </dgm:pt>
    <dgm:pt modelId="{218BB704-C54E-4ABB-A06E-1A47C96DB1C2}" type="sibTrans" cxnId="{A73D3EA0-9773-45AD-96F5-B315571BD882}">
      <dgm:prSet/>
      <dgm:spPr/>
      <dgm:t>
        <a:bodyPr/>
        <a:lstStyle/>
        <a:p>
          <a:endParaRPr lang="en-US"/>
        </a:p>
      </dgm:t>
    </dgm:pt>
    <dgm:pt modelId="{090400D3-153F-499D-B163-E16072703FA6}">
      <dgm:prSet/>
      <dgm:spPr/>
      <dgm:t>
        <a:bodyPr/>
        <a:lstStyle/>
        <a:p>
          <a:pPr>
            <a:defRPr cap="all"/>
          </a:pPr>
          <a:r>
            <a:rPr lang="en-NZ" b="1"/>
            <a:t>Production Deployment:</a:t>
          </a:r>
          <a:r>
            <a:rPr lang="en-NZ"/>
            <a:t> Live on Railway with 4 online services (FastAPI API, Prefect Worker, Qdrant Hybrid Index, Managed Postgres).</a:t>
          </a:r>
          <a:endParaRPr lang="en-US"/>
        </a:p>
      </dgm:t>
    </dgm:pt>
    <dgm:pt modelId="{263CC4D9-5F5A-4D04-A9F3-A45FAE90F1DC}" type="parTrans" cxnId="{88A49128-6208-4325-9C28-8B60B9848759}">
      <dgm:prSet/>
      <dgm:spPr/>
      <dgm:t>
        <a:bodyPr/>
        <a:lstStyle/>
        <a:p>
          <a:endParaRPr lang="en-US"/>
        </a:p>
      </dgm:t>
    </dgm:pt>
    <dgm:pt modelId="{370DF0B6-CC77-42DE-AF1D-AC70596C849F}" type="sibTrans" cxnId="{88A49128-6208-4325-9C28-8B60B9848759}">
      <dgm:prSet/>
      <dgm:spPr/>
      <dgm:t>
        <a:bodyPr/>
        <a:lstStyle/>
        <a:p>
          <a:endParaRPr lang="en-US"/>
        </a:p>
      </dgm:t>
    </dgm:pt>
    <dgm:pt modelId="{C0FBEDC8-5279-4218-90EE-E4671BF7F144}" type="pres">
      <dgm:prSet presAssocID="{A6F0219D-1B88-4AAE-8C26-281A4A83FE57}" presName="root" presStyleCnt="0">
        <dgm:presLayoutVars>
          <dgm:dir/>
          <dgm:resizeHandles val="exact"/>
        </dgm:presLayoutVars>
      </dgm:prSet>
      <dgm:spPr/>
    </dgm:pt>
    <dgm:pt modelId="{F79C5AEA-B946-494F-A38C-84AF82E5B6FF}" type="pres">
      <dgm:prSet presAssocID="{7BFD253C-DD32-44C1-B524-837D8A1E0C25}" presName="compNode" presStyleCnt="0"/>
      <dgm:spPr/>
    </dgm:pt>
    <dgm:pt modelId="{1B850743-EFE7-4091-89C3-8F37C951C9C0}" type="pres">
      <dgm:prSet presAssocID="{7BFD253C-DD32-44C1-B524-837D8A1E0C25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B805184-E23D-4C25-B904-D05334441D7C}" type="pres">
      <dgm:prSet presAssocID="{7BFD253C-DD32-44C1-B524-837D8A1E0C2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ull"/>
        </a:ext>
      </dgm:extLst>
    </dgm:pt>
    <dgm:pt modelId="{8919CAEF-266A-41EF-B387-19BEDCCD364E}" type="pres">
      <dgm:prSet presAssocID="{7BFD253C-DD32-44C1-B524-837D8A1E0C25}" presName="spaceRect" presStyleCnt="0"/>
      <dgm:spPr/>
    </dgm:pt>
    <dgm:pt modelId="{58585242-5E77-4864-95F3-395FF7EC46AC}" type="pres">
      <dgm:prSet presAssocID="{7BFD253C-DD32-44C1-B524-837D8A1E0C25}" presName="textRect" presStyleLbl="revTx" presStyleIdx="0" presStyleCnt="3">
        <dgm:presLayoutVars>
          <dgm:chMax val="1"/>
          <dgm:chPref val="1"/>
        </dgm:presLayoutVars>
      </dgm:prSet>
      <dgm:spPr/>
    </dgm:pt>
    <dgm:pt modelId="{2085A377-7BDD-4DAA-9B7E-F552703D68D3}" type="pres">
      <dgm:prSet presAssocID="{5C9158F7-02EF-4A20-9945-989B0667FDCA}" presName="sibTrans" presStyleCnt="0"/>
      <dgm:spPr/>
    </dgm:pt>
    <dgm:pt modelId="{15CE3647-AF90-4C99-9EB1-41A722C37886}" type="pres">
      <dgm:prSet presAssocID="{B6F63224-75FF-4056-8202-72E96C219BB3}" presName="compNode" presStyleCnt="0"/>
      <dgm:spPr/>
    </dgm:pt>
    <dgm:pt modelId="{CE753A04-78A0-42BE-A996-73CFDDE2325F}" type="pres">
      <dgm:prSet presAssocID="{B6F63224-75FF-4056-8202-72E96C219BB3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8CA7457-DB1B-4E25-8F80-73C0AD11B1C4}" type="pres">
      <dgm:prSet presAssocID="{B6F63224-75FF-4056-8202-72E96C219BB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5ACD5796-B582-420B-85DF-4EE8657BAFC8}" type="pres">
      <dgm:prSet presAssocID="{B6F63224-75FF-4056-8202-72E96C219BB3}" presName="spaceRect" presStyleCnt="0"/>
      <dgm:spPr/>
    </dgm:pt>
    <dgm:pt modelId="{54D19CA1-1242-4DBA-A81E-EF3C1BA9BF7A}" type="pres">
      <dgm:prSet presAssocID="{B6F63224-75FF-4056-8202-72E96C219BB3}" presName="textRect" presStyleLbl="revTx" presStyleIdx="1" presStyleCnt="3">
        <dgm:presLayoutVars>
          <dgm:chMax val="1"/>
          <dgm:chPref val="1"/>
        </dgm:presLayoutVars>
      </dgm:prSet>
      <dgm:spPr/>
    </dgm:pt>
    <dgm:pt modelId="{97172619-7F06-49EB-A61D-24C6FADF823A}" type="pres">
      <dgm:prSet presAssocID="{218BB704-C54E-4ABB-A06E-1A47C96DB1C2}" presName="sibTrans" presStyleCnt="0"/>
      <dgm:spPr/>
    </dgm:pt>
    <dgm:pt modelId="{C7DC74B9-627E-4367-94A2-B1E538CEDB66}" type="pres">
      <dgm:prSet presAssocID="{090400D3-153F-499D-B163-E16072703FA6}" presName="compNode" presStyleCnt="0"/>
      <dgm:spPr/>
    </dgm:pt>
    <dgm:pt modelId="{E6CE560C-F121-4D85-BDC9-847D1D338F4F}" type="pres">
      <dgm:prSet presAssocID="{090400D3-153F-499D-B163-E16072703FA6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74DEA23-1167-4EF6-B8E7-9B54A6B114E2}" type="pres">
      <dgm:prSet presAssocID="{090400D3-153F-499D-B163-E16072703FA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2D2CA8EA-D252-4FA8-9C3A-86031D9D5707}" type="pres">
      <dgm:prSet presAssocID="{090400D3-153F-499D-B163-E16072703FA6}" presName="spaceRect" presStyleCnt="0"/>
      <dgm:spPr/>
    </dgm:pt>
    <dgm:pt modelId="{95803B99-72E8-45D1-A6CE-37BFFBBBA9C6}" type="pres">
      <dgm:prSet presAssocID="{090400D3-153F-499D-B163-E16072703FA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DE76619-1CD7-4A14-9A30-6BC4D3D8030F}" type="presOf" srcId="{A6F0219D-1B88-4AAE-8C26-281A4A83FE57}" destId="{C0FBEDC8-5279-4218-90EE-E4671BF7F144}" srcOrd="0" destOrd="0" presId="urn:microsoft.com/office/officeart/2018/5/layout/IconLeafLabelList"/>
    <dgm:cxn modelId="{88A49128-6208-4325-9C28-8B60B9848759}" srcId="{A6F0219D-1B88-4AAE-8C26-281A4A83FE57}" destId="{090400D3-153F-499D-B163-E16072703FA6}" srcOrd="2" destOrd="0" parTransId="{263CC4D9-5F5A-4D04-A9F3-A45FAE90F1DC}" sibTransId="{370DF0B6-CC77-42DE-AF1D-AC70596C849F}"/>
    <dgm:cxn modelId="{71D6398C-67A9-4E0E-B4AC-CB041098EE9E}" type="presOf" srcId="{7BFD253C-DD32-44C1-B524-837D8A1E0C25}" destId="{58585242-5E77-4864-95F3-395FF7EC46AC}" srcOrd="0" destOrd="0" presId="urn:microsoft.com/office/officeart/2018/5/layout/IconLeafLabelList"/>
    <dgm:cxn modelId="{4872729B-286A-4C01-9AA6-7AE595F7A7A1}" type="presOf" srcId="{090400D3-153F-499D-B163-E16072703FA6}" destId="{95803B99-72E8-45D1-A6CE-37BFFBBBA9C6}" srcOrd="0" destOrd="0" presId="urn:microsoft.com/office/officeart/2018/5/layout/IconLeafLabelList"/>
    <dgm:cxn modelId="{A73D3EA0-9773-45AD-96F5-B315571BD882}" srcId="{A6F0219D-1B88-4AAE-8C26-281A4A83FE57}" destId="{B6F63224-75FF-4056-8202-72E96C219BB3}" srcOrd="1" destOrd="0" parTransId="{8BFF31AE-EDFA-4100-B8BC-31D502F54A34}" sibTransId="{218BB704-C54E-4ABB-A06E-1A47C96DB1C2}"/>
    <dgm:cxn modelId="{8D3AD3B4-8FFA-4453-88E7-FE4F431977B3}" srcId="{A6F0219D-1B88-4AAE-8C26-281A4A83FE57}" destId="{7BFD253C-DD32-44C1-B524-837D8A1E0C25}" srcOrd="0" destOrd="0" parTransId="{8A08726D-FF00-47A4-A622-B6990BA5D1FB}" sibTransId="{5C9158F7-02EF-4A20-9945-989B0667FDCA}"/>
    <dgm:cxn modelId="{7731E0DA-2258-4D5F-ACA5-53A725D4622C}" type="presOf" srcId="{B6F63224-75FF-4056-8202-72E96C219BB3}" destId="{54D19CA1-1242-4DBA-A81E-EF3C1BA9BF7A}" srcOrd="0" destOrd="0" presId="urn:microsoft.com/office/officeart/2018/5/layout/IconLeafLabelList"/>
    <dgm:cxn modelId="{EDE68E27-F451-444E-A85A-3350447F3C86}" type="presParOf" srcId="{C0FBEDC8-5279-4218-90EE-E4671BF7F144}" destId="{F79C5AEA-B946-494F-A38C-84AF82E5B6FF}" srcOrd="0" destOrd="0" presId="urn:microsoft.com/office/officeart/2018/5/layout/IconLeafLabelList"/>
    <dgm:cxn modelId="{5CF3757E-FBF5-42FB-BAC7-C069B6271833}" type="presParOf" srcId="{F79C5AEA-B946-494F-A38C-84AF82E5B6FF}" destId="{1B850743-EFE7-4091-89C3-8F37C951C9C0}" srcOrd="0" destOrd="0" presId="urn:microsoft.com/office/officeart/2018/5/layout/IconLeafLabelList"/>
    <dgm:cxn modelId="{89C160B2-E798-40C7-80A1-ACB64EA539E6}" type="presParOf" srcId="{F79C5AEA-B946-494F-A38C-84AF82E5B6FF}" destId="{5B805184-E23D-4C25-B904-D05334441D7C}" srcOrd="1" destOrd="0" presId="urn:microsoft.com/office/officeart/2018/5/layout/IconLeafLabelList"/>
    <dgm:cxn modelId="{32992C39-88C1-4D2F-B088-BC97AB20EE74}" type="presParOf" srcId="{F79C5AEA-B946-494F-A38C-84AF82E5B6FF}" destId="{8919CAEF-266A-41EF-B387-19BEDCCD364E}" srcOrd="2" destOrd="0" presId="urn:microsoft.com/office/officeart/2018/5/layout/IconLeafLabelList"/>
    <dgm:cxn modelId="{F56476FC-0DD4-4B22-BFE1-F8D9CCBEF933}" type="presParOf" srcId="{F79C5AEA-B946-494F-A38C-84AF82E5B6FF}" destId="{58585242-5E77-4864-95F3-395FF7EC46AC}" srcOrd="3" destOrd="0" presId="urn:microsoft.com/office/officeart/2018/5/layout/IconLeafLabelList"/>
    <dgm:cxn modelId="{70A432A6-EA3F-40C3-BE46-4DB93A0EEF10}" type="presParOf" srcId="{C0FBEDC8-5279-4218-90EE-E4671BF7F144}" destId="{2085A377-7BDD-4DAA-9B7E-F552703D68D3}" srcOrd="1" destOrd="0" presId="urn:microsoft.com/office/officeart/2018/5/layout/IconLeafLabelList"/>
    <dgm:cxn modelId="{6BAFB78E-8DEF-4F4D-B14F-233806286108}" type="presParOf" srcId="{C0FBEDC8-5279-4218-90EE-E4671BF7F144}" destId="{15CE3647-AF90-4C99-9EB1-41A722C37886}" srcOrd="2" destOrd="0" presId="urn:microsoft.com/office/officeart/2018/5/layout/IconLeafLabelList"/>
    <dgm:cxn modelId="{12F83DAB-3F9E-407F-968F-1677D52C5744}" type="presParOf" srcId="{15CE3647-AF90-4C99-9EB1-41A722C37886}" destId="{CE753A04-78A0-42BE-A996-73CFDDE2325F}" srcOrd="0" destOrd="0" presId="urn:microsoft.com/office/officeart/2018/5/layout/IconLeafLabelList"/>
    <dgm:cxn modelId="{F77D3E73-A16D-4211-BAC9-288CD7C0827E}" type="presParOf" srcId="{15CE3647-AF90-4C99-9EB1-41A722C37886}" destId="{A8CA7457-DB1B-4E25-8F80-73C0AD11B1C4}" srcOrd="1" destOrd="0" presId="urn:microsoft.com/office/officeart/2018/5/layout/IconLeafLabelList"/>
    <dgm:cxn modelId="{36437463-F7B5-487C-9BF4-FFBA57707A5A}" type="presParOf" srcId="{15CE3647-AF90-4C99-9EB1-41A722C37886}" destId="{5ACD5796-B582-420B-85DF-4EE8657BAFC8}" srcOrd="2" destOrd="0" presId="urn:microsoft.com/office/officeart/2018/5/layout/IconLeafLabelList"/>
    <dgm:cxn modelId="{630E034D-82E2-478F-87D6-E8011E8EC1A7}" type="presParOf" srcId="{15CE3647-AF90-4C99-9EB1-41A722C37886}" destId="{54D19CA1-1242-4DBA-A81E-EF3C1BA9BF7A}" srcOrd="3" destOrd="0" presId="urn:microsoft.com/office/officeart/2018/5/layout/IconLeafLabelList"/>
    <dgm:cxn modelId="{3D645ACD-96B2-470B-A7FF-7E951FC6C480}" type="presParOf" srcId="{C0FBEDC8-5279-4218-90EE-E4671BF7F144}" destId="{97172619-7F06-49EB-A61D-24C6FADF823A}" srcOrd="3" destOrd="0" presId="urn:microsoft.com/office/officeart/2018/5/layout/IconLeafLabelList"/>
    <dgm:cxn modelId="{48B19EEC-424A-4291-BC55-413B35619CDC}" type="presParOf" srcId="{C0FBEDC8-5279-4218-90EE-E4671BF7F144}" destId="{C7DC74B9-627E-4367-94A2-B1E538CEDB66}" srcOrd="4" destOrd="0" presId="urn:microsoft.com/office/officeart/2018/5/layout/IconLeafLabelList"/>
    <dgm:cxn modelId="{7DD22DF8-4868-4971-AF1B-9BF0DE38D3B0}" type="presParOf" srcId="{C7DC74B9-627E-4367-94A2-B1E538CEDB66}" destId="{E6CE560C-F121-4D85-BDC9-847D1D338F4F}" srcOrd="0" destOrd="0" presId="urn:microsoft.com/office/officeart/2018/5/layout/IconLeafLabelList"/>
    <dgm:cxn modelId="{41E3A763-E01B-4637-88D1-6CA4627531AA}" type="presParOf" srcId="{C7DC74B9-627E-4367-94A2-B1E538CEDB66}" destId="{774DEA23-1167-4EF6-B8E7-9B54A6B114E2}" srcOrd="1" destOrd="0" presId="urn:microsoft.com/office/officeart/2018/5/layout/IconLeafLabelList"/>
    <dgm:cxn modelId="{492309EC-AB26-4E8F-AAA7-6CCF381D849F}" type="presParOf" srcId="{C7DC74B9-627E-4367-94A2-B1E538CEDB66}" destId="{2D2CA8EA-D252-4FA8-9C3A-86031D9D5707}" srcOrd="2" destOrd="0" presId="urn:microsoft.com/office/officeart/2018/5/layout/IconLeafLabelList"/>
    <dgm:cxn modelId="{F48C0A3B-9F68-4E02-8FEE-889BFC75FEF7}" type="presParOf" srcId="{C7DC74B9-627E-4367-94A2-B1E538CEDB66}" destId="{95803B99-72E8-45D1-A6CE-37BFFBBBA9C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D88A16-26E4-4232-AFFB-AB9ECA65228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E6BC0BC-8E6B-434B-A6AE-792C4EDC4F67}">
      <dgm:prSet/>
      <dgm:spPr/>
      <dgm:t>
        <a:bodyPr/>
        <a:lstStyle/>
        <a:p>
          <a:r>
            <a:rPr lang="en-NZ" b="1"/>
            <a:t>Current Limitations:</a:t>
          </a:r>
          <a:r>
            <a:rPr lang="en-NZ"/>
            <a:t> Conversational speech text is more redundant than dense academic paper text, causing cosine score skew during cross-source queries. Flattened table extraction in PDFs loses grid alignment.</a:t>
          </a:r>
          <a:endParaRPr lang="en-US"/>
        </a:p>
      </dgm:t>
    </dgm:pt>
    <dgm:pt modelId="{30C1A4A3-B1F7-4B46-863E-862D4B563CBD}" type="parTrans" cxnId="{B9CFAF1B-2566-4887-9346-0C8185B902DF}">
      <dgm:prSet/>
      <dgm:spPr/>
      <dgm:t>
        <a:bodyPr/>
        <a:lstStyle/>
        <a:p>
          <a:endParaRPr lang="en-US"/>
        </a:p>
      </dgm:t>
    </dgm:pt>
    <dgm:pt modelId="{1F5A931F-121D-4A02-B9FD-22E343A17D5F}" type="sibTrans" cxnId="{B9CFAF1B-2566-4887-9346-0C8185B902DF}">
      <dgm:prSet/>
      <dgm:spPr/>
      <dgm:t>
        <a:bodyPr/>
        <a:lstStyle/>
        <a:p>
          <a:endParaRPr lang="en-US"/>
        </a:p>
      </dgm:t>
    </dgm:pt>
    <dgm:pt modelId="{906B1260-3EE0-4854-B7AA-A6C0EBB5E720}">
      <dgm:prSet/>
      <dgm:spPr/>
      <dgm:t>
        <a:bodyPr/>
        <a:lstStyle/>
        <a:p>
          <a:r>
            <a:rPr lang="en-NZ" b="1"/>
            <a:t>Future Improvements:</a:t>
          </a:r>
          <a:endParaRPr lang="en-US"/>
        </a:p>
      </dgm:t>
    </dgm:pt>
    <dgm:pt modelId="{6BA991AE-4CD1-4406-ACD2-E64812845CD7}" type="parTrans" cxnId="{8E5910FF-D684-4995-AE8E-164E22383E9E}">
      <dgm:prSet/>
      <dgm:spPr/>
      <dgm:t>
        <a:bodyPr/>
        <a:lstStyle/>
        <a:p>
          <a:endParaRPr lang="en-US"/>
        </a:p>
      </dgm:t>
    </dgm:pt>
    <dgm:pt modelId="{26BD741F-BED0-4111-9DC3-D3EBD64C00E3}" type="sibTrans" cxnId="{8E5910FF-D684-4995-AE8E-164E22383E9E}">
      <dgm:prSet/>
      <dgm:spPr/>
      <dgm:t>
        <a:bodyPr/>
        <a:lstStyle/>
        <a:p>
          <a:endParaRPr lang="en-US"/>
        </a:p>
      </dgm:t>
    </dgm:pt>
    <dgm:pt modelId="{D937466A-0BED-4B7B-8E62-FE65B4098145}">
      <dgm:prSet/>
      <dgm:spPr/>
      <dgm:t>
        <a:bodyPr/>
        <a:lstStyle/>
        <a:p>
          <a:r>
            <a:rPr lang="en-NZ"/>
            <a:t>Visual bounding boxes ([x0, y0, x1, y1]) highlighting specific diagrams on slides/PDFs in real-time.</a:t>
          </a:r>
          <a:endParaRPr lang="en-US"/>
        </a:p>
      </dgm:t>
    </dgm:pt>
    <dgm:pt modelId="{8B6FD5C7-4108-4232-92C3-B10E2D32CB51}" type="parTrans" cxnId="{5B814B29-7C84-421C-B291-867C6338F762}">
      <dgm:prSet/>
      <dgm:spPr/>
      <dgm:t>
        <a:bodyPr/>
        <a:lstStyle/>
        <a:p>
          <a:endParaRPr lang="en-US"/>
        </a:p>
      </dgm:t>
    </dgm:pt>
    <dgm:pt modelId="{09EE1515-CEB5-485E-ABC7-B4FE940F6BF5}" type="sibTrans" cxnId="{5B814B29-7C84-421C-B291-867C6338F762}">
      <dgm:prSet/>
      <dgm:spPr/>
      <dgm:t>
        <a:bodyPr/>
        <a:lstStyle/>
        <a:p>
          <a:endParaRPr lang="en-US"/>
        </a:p>
      </dgm:t>
    </dgm:pt>
    <dgm:pt modelId="{C2B0C678-101F-4263-851F-7EC09760D921}">
      <dgm:prSet/>
      <dgm:spPr/>
      <dgm:t>
        <a:bodyPr/>
        <a:lstStyle/>
        <a:p>
          <a:r>
            <a:rPr lang="en-NZ"/>
            <a:t>Cross-encoder reranker trained to normalize scores across diverse modalities.</a:t>
          </a:r>
          <a:endParaRPr lang="en-US"/>
        </a:p>
      </dgm:t>
    </dgm:pt>
    <dgm:pt modelId="{DA19881F-4F09-4855-B1E5-F94D1D03E9E3}" type="parTrans" cxnId="{643113A7-2ED5-42D0-ACC9-AF3C61A0A605}">
      <dgm:prSet/>
      <dgm:spPr/>
      <dgm:t>
        <a:bodyPr/>
        <a:lstStyle/>
        <a:p>
          <a:endParaRPr lang="en-US"/>
        </a:p>
      </dgm:t>
    </dgm:pt>
    <dgm:pt modelId="{75038277-13B7-446F-B0D3-B8D17AD69C8A}" type="sibTrans" cxnId="{643113A7-2ED5-42D0-ACC9-AF3C61A0A605}">
      <dgm:prSet/>
      <dgm:spPr/>
      <dgm:t>
        <a:bodyPr/>
        <a:lstStyle/>
        <a:p>
          <a:endParaRPr lang="en-US"/>
        </a:p>
      </dgm:t>
    </dgm:pt>
    <dgm:pt modelId="{778D8213-18FC-4321-9967-6EC2C26B1CA6}">
      <dgm:prSet/>
      <dgm:spPr/>
      <dgm:t>
        <a:bodyPr/>
        <a:lstStyle/>
        <a:p>
          <a:r>
            <a:rPr lang="en-NZ"/>
            <a:t>Adaptive moment sizing using audio prosody and visual shot-transition detection.</a:t>
          </a:r>
          <a:endParaRPr lang="en-US"/>
        </a:p>
      </dgm:t>
    </dgm:pt>
    <dgm:pt modelId="{16832877-FDC6-4E10-90C7-E42CACDE182C}" type="parTrans" cxnId="{D7A02C5B-D5E4-4C53-87DC-49FCFC316655}">
      <dgm:prSet/>
      <dgm:spPr/>
      <dgm:t>
        <a:bodyPr/>
        <a:lstStyle/>
        <a:p>
          <a:endParaRPr lang="en-US"/>
        </a:p>
      </dgm:t>
    </dgm:pt>
    <dgm:pt modelId="{0DD15AC4-CAF3-4F13-B0FA-9CE9C928AA21}" type="sibTrans" cxnId="{D7A02C5B-D5E4-4C53-87DC-49FCFC316655}">
      <dgm:prSet/>
      <dgm:spPr/>
      <dgm:t>
        <a:bodyPr/>
        <a:lstStyle/>
        <a:p>
          <a:endParaRPr lang="en-US"/>
        </a:p>
      </dgm:t>
    </dgm:pt>
    <dgm:pt modelId="{7D0B5DB2-F2D8-463B-8F64-2F949529366C}" type="pres">
      <dgm:prSet presAssocID="{22D88A16-26E4-4232-AFFB-AB9ECA652289}" presName="linear" presStyleCnt="0">
        <dgm:presLayoutVars>
          <dgm:animLvl val="lvl"/>
          <dgm:resizeHandles val="exact"/>
        </dgm:presLayoutVars>
      </dgm:prSet>
      <dgm:spPr/>
    </dgm:pt>
    <dgm:pt modelId="{6931B447-7494-4CFA-B3F7-726D1DDBED0D}" type="pres">
      <dgm:prSet presAssocID="{9E6BC0BC-8E6B-434B-A6AE-792C4EDC4F6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9A8AC87-AD65-4E49-AB7A-85681DD479A2}" type="pres">
      <dgm:prSet presAssocID="{1F5A931F-121D-4A02-B9FD-22E343A17D5F}" presName="spacer" presStyleCnt="0"/>
      <dgm:spPr/>
    </dgm:pt>
    <dgm:pt modelId="{D37A103E-FDA0-497A-9B27-FC6144AF0273}" type="pres">
      <dgm:prSet presAssocID="{906B1260-3EE0-4854-B7AA-A6C0EBB5E72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F613F08-C653-4CD5-AE36-3CA4B28EC88B}" type="pres">
      <dgm:prSet presAssocID="{906B1260-3EE0-4854-B7AA-A6C0EBB5E72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2D75A09-6822-494D-A7B6-4BC3E547D17A}" type="presOf" srcId="{906B1260-3EE0-4854-B7AA-A6C0EBB5E720}" destId="{D37A103E-FDA0-497A-9B27-FC6144AF0273}" srcOrd="0" destOrd="0" presId="urn:microsoft.com/office/officeart/2005/8/layout/vList2"/>
    <dgm:cxn modelId="{D5502E19-5851-48F0-88AA-8C316BC71014}" type="presOf" srcId="{778D8213-18FC-4321-9967-6EC2C26B1CA6}" destId="{0F613F08-C653-4CD5-AE36-3CA4B28EC88B}" srcOrd="0" destOrd="2" presId="urn:microsoft.com/office/officeart/2005/8/layout/vList2"/>
    <dgm:cxn modelId="{B9CFAF1B-2566-4887-9346-0C8185B902DF}" srcId="{22D88A16-26E4-4232-AFFB-AB9ECA652289}" destId="{9E6BC0BC-8E6B-434B-A6AE-792C4EDC4F67}" srcOrd="0" destOrd="0" parTransId="{30C1A4A3-B1F7-4B46-863E-862D4B563CBD}" sibTransId="{1F5A931F-121D-4A02-B9FD-22E343A17D5F}"/>
    <dgm:cxn modelId="{5B814B29-7C84-421C-B291-867C6338F762}" srcId="{906B1260-3EE0-4854-B7AA-A6C0EBB5E720}" destId="{D937466A-0BED-4B7B-8E62-FE65B4098145}" srcOrd="0" destOrd="0" parTransId="{8B6FD5C7-4108-4232-92C3-B10E2D32CB51}" sibTransId="{09EE1515-CEB5-485E-ABC7-B4FE940F6BF5}"/>
    <dgm:cxn modelId="{D7A02C5B-D5E4-4C53-87DC-49FCFC316655}" srcId="{906B1260-3EE0-4854-B7AA-A6C0EBB5E720}" destId="{778D8213-18FC-4321-9967-6EC2C26B1CA6}" srcOrd="2" destOrd="0" parTransId="{16832877-FDC6-4E10-90C7-E42CACDE182C}" sibTransId="{0DD15AC4-CAF3-4F13-B0FA-9CE9C928AA21}"/>
    <dgm:cxn modelId="{C8B49082-F6EB-4275-BB2F-664A52753B8B}" type="presOf" srcId="{9E6BC0BC-8E6B-434B-A6AE-792C4EDC4F67}" destId="{6931B447-7494-4CFA-B3F7-726D1DDBED0D}" srcOrd="0" destOrd="0" presId="urn:microsoft.com/office/officeart/2005/8/layout/vList2"/>
    <dgm:cxn modelId="{1D17478A-9050-4DA0-ADA8-5FE17C163C75}" type="presOf" srcId="{D937466A-0BED-4B7B-8E62-FE65B4098145}" destId="{0F613F08-C653-4CD5-AE36-3CA4B28EC88B}" srcOrd="0" destOrd="0" presId="urn:microsoft.com/office/officeart/2005/8/layout/vList2"/>
    <dgm:cxn modelId="{643113A7-2ED5-42D0-ACC9-AF3C61A0A605}" srcId="{906B1260-3EE0-4854-B7AA-A6C0EBB5E720}" destId="{C2B0C678-101F-4263-851F-7EC09760D921}" srcOrd="1" destOrd="0" parTransId="{DA19881F-4F09-4855-B1E5-F94D1D03E9E3}" sibTransId="{75038277-13B7-446F-B0D3-B8D17AD69C8A}"/>
    <dgm:cxn modelId="{7DF931C8-2969-4278-A9D3-397897935961}" type="presOf" srcId="{22D88A16-26E4-4232-AFFB-AB9ECA652289}" destId="{7D0B5DB2-F2D8-463B-8F64-2F949529366C}" srcOrd="0" destOrd="0" presId="urn:microsoft.com/office/officeart/2005/8/layout/vList2"/>
    <dgm:cxn modelId="{34A567FA-678B-438F-B94B-827F65825E24}" type="presOf" srcId="{C2B0C678-101F-4263-851F-7EC09760D921}" destId="{0F613F08-C653-4CD5-AE36-3CA4B28EC88B}" srcOrd="0" destOrd="1" presId="urn:microsoft.com/office/officeart/2005/8/layout/vList2"/>
    <dgm:cxn modelId="{8E5910FF-D684-4995-AE8E-164E22383E9E}" srcId="{22D88A16-26E4-4232-AFFB-AB9ECA652289}" destId="{906B1260-3EE0-4854-B7AA-A6C0EBB5E720}" srcOrd="1" destOrd="0" parTransId="{6BA991AE-4CD1-4406-ACD2-E64812845CD7}" sibTransId="{26BD741F-BED0-4111-9DC3-D3EBD64C00E3}"/>
    <dgm:cxn modelId="{13FAB57E-1CB4-40F6-BCFC-30EE952FE259}" type="presParOf" srcId="{7D0B5DB2-F2D8-463B-8F64-2F949529366C}" destId="{6931B447-7494-4CFA-B3F7-726D1DDBED0D}" srcOrd="0" destOrd="0" presId="urn:microsoft.com/office/officeart/2005/8/layout/vList2"/>
    <dgm:cxn modelId="{43A09427-E426-40EA-8B03-4CC7C93C04CE}" type="presParOf" srcId="{7D0B5DB2-F2D8-463B-8F64-2F949529366C}" destId="{69A8AC87-AD65-4E49-AB7A-85681DD479A2}" srcOrd="1" destOrd="0" presId="urn:microsoft.com/office/officeart/2005/8/layout/vList2"/>
    <dgm:cxn modelId="{DFC575FC-2C15-4DAB-8B23-4524BFEF37C8}" type="presParOf" srcId="{7D0B5DB2-F2D8-463B-8F64-2F949529366C}" destId="{D37A103E-FDA0-497A-9B27-FC6144AF0273}" srcOrd="2" destOrd="0" presId="urn:microsoft.com/office/officeart/2005/8/layout/vList2"/>
    <dgm:cxn modelId="{08D0550E-E2C8-4EBD-A1CA-888D886070F6}" type="presParOf" srcId="{7D0B5DB2-F2D8-463B-8F64-2F949529366C}" destId="{0F613F08-C653-4CD5-AE36-3CA4B28EC88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DF0C20-244C-4012-B460-50FBB243E2A3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88DC5-C2F9-4F5D-B31F-5EEDE2433D31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900" b="1" kern="1200"/>
            <a:t>Title:</a:t>
          </a:r>
          <a:r>
            <a:rPr lang="en-NZ" sz="900" kern="1200"/>
            <a:t> From Semantic Search to Moment RAG: Precision Multimodal Retrieval at Scale</a:t>
          </a:r>
          <a:endParaRPr lang="en-US" sz="900" kern="1200"/>
        </a:p>
      </dsp:txBody>
      <dsp:txXfrm>
        <a:off x="398656" y="1088253"/>
        <a:ext cx="2959127" cy="1837317"/>
      </dsp:txXfrm>
    </dsp:sp>
    <dsp:sp modelId="{3AEBFD1F-36DA-4986-85B4-24E37DA8AE0F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947E26-789A-4464-AB53-C4A17FE1CAF9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900" b="1" kern="1200"/>
            <a:t>Live App:</a:t>
          </a:r>
          <a:r>
            <a:rPr lang="en-NZ" sz="900" kern="1200"/>
            <a:t> </a:t>
          </a:r>
          <a:r>
            <a:rPr lang="en-NZ" sz="900" kern="1200">
              <a:hlinkClick xmlns:r="http://schemas.openxmlformats.org/officeDocument/2006/relationships" r:id="rId1"/>
            </a:rPr>
            <a:t>https://momentsearch-api-production.up.railway.app</a:t>
          </a:r>
          <a:endParaRPr lang="en-US" sz="900" kern="1200"/>
        </a:p>
      </dsp:txBody>
      <dsp:txXfrm>
        <a:off x="4155097" y="1088253"/>
        <a:ext cx="2959127" cy="1837317"/>
      </dsp:txXfrm>
    </dsp:sp>
    <dsp:sp modelId="{4A50C6D5-1D9D-457C-88CD-625C5E13135C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9FD392-7039-46BC-BEAC-0369FD80A3AD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900" b="1" kern="1200"/>
            <a:t>GitHub:</a:t>
          </a:r>
          <a:r>
            <a:rPr lang="en-NZ" sz="900" kern="1200"/>
            <a:t> </a:t>
          </a:r>
          <a:r>
            <a:rPr lang="en-NZ" sz="900" kern="1200">
              <a:hlinkClick xmlns:r="http://schemas.openxmlformats.org/officeDocument/2006/relationships" r:id="rId2"/>
            </a:rPr>
            <a:t>https://github.com/aemadhavan/momentsearch</a:t>
          </a:r>
          <a:endParaRPr lang="en-US" sz="900" kern="1200"/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478B5A-33D1-4B24-8B1F-0B0F90A42B1F}">
      <dsp:nvSpPr>
        <dsp:cNvPr id="0" name=""/>
        <dsp:cNvSpPr/>
      </dsp:nvSpPr>
      <dsp:spPr>
        <a:xfrm>
          <a:off x="53" y="153257"/>
          <a:ext cx="5106412" cy="58299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b="1" kern="1200"/>
            <a:t>Selected Video:</a:t>
          </a:r>
          <a:r>
            <a:rPr lang="en-NZ" sz="1500" kern="1200"/>
            <a:t> 3Blue1Brown — </a:t>
          </a:r>
          <a:r>
            <a:rPr lang="en-NZ" sz="1500" i="1" kern="1200"/>
            <a:t>"Large Language Models explained briefly"</a:t>
          </a:r>
          <a:r>
            <a:rPr lang="en-NZ" sz="1500" kern="1200"/>
            <a:t> (8 mins)</a:t>
          </a:r>
          <a:endParaRPr lang="en-US" sz="1500" kern="1200"/>
        </a:p>
      </dsp:txBody>
      <dsp:txXfrm>
        <a:off x="53" y="153257"/>
        <a:ext cx="5106412" cy="582990"/>
      </dsp:txXfrm>
    </dsp:sp>
    <dsp:sp modelId="{D78743F7-1018-4B6D-B554-3FE8E84CA2AC}">
      <dsp:nvSpPr>
        <dsp:cNvPr id="0" name=""/>
        <dsp:cNvSpPr/>
      </dsp:nvSpPr>
      <dsp:spPr>
        <a:xfrm>
          <a:off x="53" y="736247"/>
          <a:ext cx="5106412" cy="27999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500" kern="1200"/>
            <a:t>URL: </a:t>
          </a:r>
          <a:r>
            <a:rPr lang="en-NZ" sz="1500" kern="1200">
              <a:hlinkClick xmlns:r="http://schemas.openxmlformats.org/officeDocument/2006/relationships" r:id="rId1"/>
            </a:rPr>
            <a:t>https://youtu.be/LPZh9BOjkQs</a:t>
          </a:r>
          <a:endParaRPr lang="en-US" sz="1500" kern="1200"/>
        </a:p>
      </dsp:txBody>
      <dsp:txXfrm>
        <a:off x="53" y="736247"/>
        <a:ext cx="5106412" cy="2799900"/>
      </dsp:txXfrm>
    </dsp:sp>
    <dsp:sp modelId="{05EC4165-B84B-411E-9446-FDD9C2C95986}">
      <dsp:nvSpPr>
        <dsp:cNvPr id="0" name=""/>
        <dsp:cNvSpPr/>
      </dsp:nvSpPr>
      <dsp:spPr>
        <a:xfrm>
          <a:off x="5821363" y="153257"/>
          <a:ext cx="5106412" cy="58299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b="1" kern="1200"/>
            <a:t>Why Chosen:</a:t>
          </a:r>
          <a:endParaRPr lang="en-US" sz="1500" kern="1200"/>
        </a:p>
      </dsp:txBody>
      <dsp:txXfrm>
        <a:off x="5821363" y="153257"/>
        <a:ext cx="5106412" cy="582990"/>
      </dsp:txXfrm>
    </dsp:sp>
    <dsp:sp modelId="{E77DC567-6CD5-4E33-A320-21AE3B07A138}">
      <dsp:nvSpPr>
        <dsp:cNvPr id="0" name=""/>
        <dsp:cNvSpPr/>
      </dsp:nvSpPr>
      <dsp:spPr>
        <a:xfrm>
          <a:off x="5821363" y="736247"/>
          <a:ext cx="5106412" cy="279990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500" b="1" kern="1200"/>
            <a:t>High Visual-Semantic Coupling:</a:t>
          </a:r>
          <a:r>
            <a:rPr lang="en-NZ" sz="1500" kern="1200"/>
            <a:t> The spoken transcript frequently refers to on-screen animations (attention matrices, high-dimensional vector spaces). Spoken text alone is ambiguous without synchronized visual keyframes.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500" b="1" kern="1200"/>
            <a:t>Clear Conceptual Transitions:</a:t>
          </a:r>
          <a:r>
            <a:rPr lang="en-NZ" sz="1500" kern="1200"/>
            <a:t> Features distinct thematic boundaries (Tokenization → Vector Embeddings → Attention Matrices → Next-Token Softmax Sampling).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500" b="1" kern="1200"/>
            <a:t>Precision Retrieval Benchmark:</a:t>
          </a:r>
          <a:r>
            <a:rPr lang="en-NZ" sz="1500" kern="1200"/>
            <a:t> Provides a ground-truth baseline to test whether retrieval returns fragmented sentences or complete visual-temporal moments with timestamped deep links.</a:t>
          </a:r>
          <a:endParaRPr lang="en-US" sz="1500" kern="1200"/>
        </a:p>
      </dsp:txBody>
      <dsp:txXfrm>
        <a:off x="5821363" y="736247"/>
        <a:ext cx="5106412" cy="27999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50743-EFE7-4091-89C3-8F37C951C9C0}">
      <dsp:nvSpPr>
        <dsp:cNvPr id="0" name=""/>
        <dsp:cNvSpPr/>
      </dsp:nvSpPr>
      <dsp:spPr>
        <a:xfrm>
          <a:off x="419666" y="1401261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805184-E23D-4C25-B904-D05334441D7C}">
      <dsp:nvSpPr>
        <dsp:cNvPr id="0" name=""/>
        <dsp:cNvSpPr/>
      </dsp:nvSpPr>
      <dsp:spPr>
        <a:xfrm>
          <a:off x="675603" y="1657198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585242-5E77-4864-95F3-395FF7EC46AC}">
      <dsp:nvSpPr>
        <dsp:cNvPr id="0" name=""/>
        <dsp:cNvSpPr/>
      </dsp:nvSpPr>
      <dsp:spPr>
        <a:xfrm>
          <a:off x="35760" y="2976261"/>
          <a:ext cx="1968750" cy="1076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NZ" sz="1100" b="1" kern="1200"/>
            <a:t>100% Citation Grounding:</a:t>
          </a:r>
          <a:r>
            <a:rPr lang="en-NZ" sz="1100" kern="1200"/>
            <a:t> Zero citation hallucinations; all citations resolve to an existing ingested chunk.</a:t>
          </a:r>
          <a:endParaRPr lang="en-US" sz="1100" kern="1200"/>
        </a:p>
      </dsp:txBody>
      <dsp:txXfrm>
        <a:off x="35760" y="2976261"/>
        <a:ext cx="1968750" cy="1076397"/>
      </dsp:txXfrm>
    </dsp:sp>
    <dsp:sp modelId="{CE753A04-78A0-42BE-A996-73CFDDE2325F}">
      <dsp:nvSpPr>
        <dsp:cNvPr id="0" name=""/>
        <dsp:cNvSpPr/>
      </dsp:nvSpPr>
      <dsp:spPr>
        <a:xfrm>
          <a:off x="2732947" y="1401261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CA7457-DB1B-4E25-8F80-73C0AD11B1C4}">
      <dsp:nvSpPr>
        <dsp:cNvPr id="0" name=""/>
        <dsp:cNvSpPr/>
      </dsp:nvSpPr>
      <dsp:spPr>
        <a:xfrm>
          <a:off x="2988885" y="1657198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D19CA1-1242-4DBA-A81E-EF3C1BA9BF7A}">
      <dsp:nvSpPr>
        <dsp:cNvPr id="0" name=""/>
        <dsp:cNvSpPr/>
      </dsp:nvSpPr>
      <dsp:spPr>
        <a:xfrm>
          <a:off x="2349041" y="2976261"/>
          <a:ext cx="1968750" cy="1076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NZ" sz="1100" b="1" kern="1200"/>
            <a:t>SLA Benchmark Compliance:</a:t>
          </a:r>
          <a:r>
            <a:rPr lang="en-NZ" sz="1100" kern="1200"/>
            <a:t> Time-To-First-Token (TTFT) &lt; 350 ms, with streaming answer synthesis completing in &lt; 1.2s.</a:t>
          </a:r>
          <a:endParaRPr lang="en-US" sz="1100" kern="1200"/>
        </a:p>
      </dsp:txBody>
      <dsp:txXfrm>
        <a:off x="2349041" y="2976261"/>
        <a:ext cx="1968750" cy="1076397"/>
      </dsp:txXfrm>
    </dsp:sp>
    <dsp:sp modelId="{E6CE560C-F121-4D85-BDC9-847D1D338F4F}">
      <dsp:nvSpPr>
        <dsp:cNvPr id="0" name=""/>
        <dsp:cNvSpPr/>
      </dsp:nvSpPr>
      <dsp:spPr>
        <a:xfrm>
          <a:off x="5046229" y="1401261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4DEA23-1167-4EF6-B8E7-9B54A6B114E2}">
      <dsp:nvSpPr>
        <dsp:cNvPr id="0" name=""/>
        <dsp:cNvSpPr/>
      </dsp:nvSpPr>
      <dsp:spPr>
        <a:xfrm>
          <a:off x="5302166" y="1657198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803B99-72E8-45D1-A6CE-37BFFBBBA9C6}">
      <dsp:nvSpPr>
        <dsp:cNvPr id="0" name=""/>
        <dsp:cNvSpPr/>
      </dsp:nvSpPr>
      <dsp:spPr>
        <a:xfrm>
          <a:off x="4662322" y="2976261"/>
          <a:ext cx="1968750" cy="1076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NZ" sz="1100" b="1" kern="1200"/>
            <a:t>Production Deployment:</a:t>
          </a:r>
          <a:r>
            <a:rPr lang="en-NZ" sz="1100" kern="1200"/>
            <a:t> Live on Railway with 4 online services (FastAPI API, Prefect Worker, Qdrant Hybrid Index, Managed Postgres).</a:t>
          </a:r>
          <a:endParaRPr lang="en-US" sz="1100" kern="1200"/>
        </a:p>
      </dsp:txBody>
      <dsp:txXfrm>
        <a:off x="4662322" y="2976261"/>
        <a:ext cx="1968750" cy="10763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31B447-7494-4CFA-B3F7-726D1DDBED0D}">
      <dsp:nvSpPr>
        <dsp:cNvPr id="0" name=""/>
        <dsp:cNvSpPr/>
      </dsp:nvSpPr>
      <dsp:spPr>
        <a:xfrm>
          <a:off x="0" y="117815"/>
          <a:ext cx="6666833" cy="18181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100" b="1" kern="1200"/>
            <a:t>Current Limitations:</a:t>
          </a:r>
          <a:r>
            <a:rPr lang="en-NZ" sz="2100" kern="1200"/>
            <a:t> Conversational speech text is more redundant than dense academic paper text, causing cosine score skew during cross-source queries. Flattened table extraction in PDFs loses grid alignment.</a:t>
          </a:r>
          <a:endParaRPr lang="en-US" sz="2100" kern="1200"/>
        </a:p>
      </dsp:txBody>
      <dsp:txXfrm>
        <a:off x="88756" y="206571"/>
        <a:ext cx="6489321" cy="1640667"/>
      </dsp:txXfrm>
    </dsp:sp>
    <dsp:sp modelId="{D37A103E-FDA0-497A-9B27-FC6144AF0273}">
      <dsp:nvSpPr>
        <dsp:cNvPr id="0" name=""/>
        <dsp:cNvSpPr/>
      </dsp:nvSpPr>
      <dsp:spPr>
        <a:xfrm>
          <a:off x="0" y="1996474"/>
          <a:ext cx="6666833" cy="181817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100" b="1" kern="1200"/>
            <a:t>Future Improvements:</a:t>
          </a:r>
          <a:endParaRPr lang="en-US" sz="2100" kern="1200"/>
        </a:p>
      </dsp:txBody>
      <dsp:txXfrm>
        <a:off x="88756" y="2085230"/>
        <a:ext cx="6489321" cy="1640667"/>
      </dsp:txXfrm>
    </dsp:sp>
    <dsp:sp modelId="{0F613F08-C653-4CD5-AE36-3CA4B28EC88B}">
      <dsp:nvSpPr>
        <dsp:cNvPr id="0" name=""/>
        <dsp:cNvSpPr/>
      </dsp:nvSpPr>
      <dsp:spPr>
        <a:xfrm>
          <a:off x="0" y="3814654"/>
          <a:ext cx="6666833" cy="1521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Z" sz="1600" kern="1200"/>
            <a:t>Visual bounding boxes ([x0, y0, x1, y1]) highlighting specific diagrams on slides/PDFs in real-time.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Z" sz="1600" kern="1200"/>
            <a:t>Cross-encoder reranker trained to normalize scores across diverse modalities.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Z" sz="1600" kern="1200"/>
            <a:t>Adaptive moment sizing using audio prosody and visual shot-transition detection.</a:t>
          </a:r>
          <a:endParaRPr lang="en-US" sz="1600" kern="1200"/>
        </a:p>
      </dsp:txBody>
      <dsp:txXfrm>
        <a:off x="0" y="3814654"/>
        <a:ext cx="6666833" cy="1521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D12AC-A1B0-4FC2-0148-E3D019E0C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0C9B0C-7277-B268-718C-41ECFC872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B9646-9FE9-7E68-F29B-8CC913B3E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AF56-0300-41FA-B410-7255CBD8496E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4C44A-A799-6272-18EA-224BC44C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2EB7A-C45B-56F5-B24C-9EF8FC8F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DF2A-B35B-4228-AD00-E54EB680BE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81233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800F-41A1-0B62-1E21-1A54DA81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80C5B-29D0-632A-0D2E-18B4ADA47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A4836-16A1-D311-6116-7A9B477F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AF56-0300-41FA-B410-7255CBD8496E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C2EA9-1E01-CB74-E4B9-2F0C80CB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CE428-AAF7-7A6B-9A83-A61055C43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DF2A-B35B-4228-AD00-E54EB680BE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5489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879AD-E208-40E4-56FC-BD0ABCFB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72CDB-7611-B78A-482C-DF77D939E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E1180-6DA9-858F-2CDB-DF94708CD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AF56-0300-41FA-B410-7255CBD8496E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ED21E-97D4-6B00-7107-20665AA98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C354D-1642-05BC-4D10-83B20280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DF2A-B35B-4228-AD00-E54EB680BE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89806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4DF39-FEB8-6887-6566-551754AF1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C1197-6A30-A1BC-D84C-019742D498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88E05-D255-E90F-DE42-DC02D2971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FC35E-F412-1F53-52B4-FFACD95C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AF56-0300-41FA-B410-7255CBD8496E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87E2F-BFE5-4C26-F6D7-F7F38A1A3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EC68B-C184-384C-A293-ACB0F3314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DF2A-B35B-4228-AD00-E54EB680BE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14544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85AB-6B5D-548E-B4C2-92DED1E9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C4F5-A50D-8371-2780-5BAA7A984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B655A-4260-8C32-6CF5-DB84FB68E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6136B-119B-CAA7-C110-E47F061A6B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49245-66CE-47EE-5845-94F26A565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F302F6-7D03-E179-4F8E-6252173B7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AF56-0300-41FA-B410-7255CBD8496E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729F27-FEBB-C0DF-F659-CD0942887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02E1F3-2E70-8C8B-9590-683BFFDC9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DF2A-B35B-4228-AD00-E54EB680BE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65203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D566-9FAB-D7BA-BF49-EE978415B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4E72AE-97A9-67EF-6D16-79EA674B2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AF56-0300-41FA-B410-7255CBD8496E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C482F-CB28-9B21-09DD-E6A0AAE83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45010C-5762-54A0-B1D2-6B059EC62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DF2A-B35B-4228-AD00-E54EB680BE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61072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63CEE5-87C7-48A1-9C2E-AD7E99BE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AF56-0300-41FA-B410-7255CBD8496E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FE2746-1BDD-5DEC-5B44-38510097E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7F85F-1806-25DE-7136-D923E857F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DF2A-B35B-4228-AD00-E54EB680BE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2023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9B931-889B-1DF2-F2FC-F766FD153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4474-F8BD-1F11-F383-F698E1461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D12FC-D811-4BD1-7787-DFCDFA0C7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2CD08-CEF3-CC9E-A91A-409B0D7F5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AF56-0300-41FA-B410-7255CBD8496E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217AA-833F-8709-E6BB-5F3AAE9BC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B215B-C82D-8029-1843-4B7BC957E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DF2A-B35B-4228-AD00-E54EB680BE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54093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AC461-0434-5A51-F88D-2096BB053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EB3DDF-38A6-FB2C-C2DF-C351812959D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A618E-5E38-E79D-3E1D-5E4B0A8C9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EAE66-7976-F10D-8421-7B47CF69F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AF56-0300-41FA-B410-7255CBD8496E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A75E6-8940-0A04-0E34-CB1D40836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97C87-A84F-571D-88AD-90346664A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DF2A-B35B-4228-AD00-E54EB680BE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88237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C21D2-E6AE-86B6-8062-80E7D088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EA2F2-F56A-555E-8EB1-D700A71B9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F7B3B-DF35-1017-EE0E-CB82E923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AF56-0300-41FA-B410-7255CBD8496E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7459D-043A-6F6E-458B-27A772FBF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EFAB2-2491-08CE-86B7-4645A8ED2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DF2A-B35B-4228-AD00-E54EB680BE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28282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05CB44-F4F5-57B7-DDA6-A7A8E4AC3C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AD212-4FCE-945F-B7AD-1041F16AB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14AD7-394B-DB6B-FE6E-BB19186BF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AF56-0300-41FA-B410-7255CBD8496E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EAA19-6F84-A115-84F6-4E22EB672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9E04D-EE1D-1CEE-6067-3CBF1EAEB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DF2A-B35B-4228-AD00-E54EB680BE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58840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B2895-A3F2-F355-53C5-9911BCC49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44937-AFCE-7BCD-1CCB-D8AF4DF85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33477-F03E-6203-C395-FC71FCBD4D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03AF56-0300-41FA-B410-7255CBD8496E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787FC-6D09-E469-309A-6826A2D2AE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B54FF-39EC-6CC2-36CB-3096057BA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F4DF2A-B35B-4228-AD00-E54EB680BE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19545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9B9FBC-2FCC-E9B7-7D7C-868C1389B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NZ" sz="4800" b="1">
                <a:solidFill>
                  <a:srgbClr val="FFFFFF"/>
                </a:solidFill>
              </a:rPr>
              <a:t>Assignment 3 Submission: Implement Semantic Search to Moment Search (ARGUS)</a:t>
            </a:r>
            <a:endParaRPr lang="en-NZ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C556A-5597-1A49-178A-6E321DFC4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NZ" dirty="0"/>
              <a:t> From Semantic Search to Moment RAG: Precision Multimodal Retrieval at Scale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7601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AC54D-44CD-4738-ABA7-D4063EC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NZ" sz="4000">
                <a:solidFill>
                  <a:srgbClr val="FFFFFF"/>
                </a:solidFill>
              </a:rPr>
              <a:t>From Semantic Search to Moment RAG: Precision Multimodal Retrieval at Scale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C052CF-7BA4-1609-4DF8-25DF15D1DE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416487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3874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73B0D-D98C-5841-5E2E-3942B00F1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NZ" sz="4000" b="1">
                <a:solidFill>
                  <a:srgbClr val="FFFFFF"/>
                </a:solidFill>
              </a:rPr>
              <a:t>Video Selected &amp; Technical Rationale</a:t>
            </a:r>
            <a:endParaRPr lang="en-NZ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44BB2E-5272-59C3-9210-84C86ACA29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899508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5855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C8A784-8DF5-50DC-2F2E-3DA37B07D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NZ" sz="4000" b="1">
                <a:solidFill>
                  <a:srgbClr val="FFFFFF"/>
                </a:solidFill>
              </a:rPr>
              <a:t>Architecture Understanding of Moment RAG</a:t>
            </a:r>
            <a:endParaRPr lang="en-NZ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7E91C-6475-1B5C-3284-1F7D58DBB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lvl="0"/>
            <a:r>
              <a:rPr lang="en-NZ" sz="1900" b="1"/>
              <a:t>Decoupled Asynchronous Workers:</a:t>
            </a:r>
            <a:r>
              <a:rPr lang="en-NZ" sz="1900"/>
              <a:t> Ingestion of heavy assets (FFmpeg frame extraction, CLIP embeddings, PDF rendering) runs on Prefect Cloud workers, leaving the FastAPI API lightweight and responsive (202 Accepted in &lt; 300 ms).</a:t>
            </a:r>
          </a:p>
          <a:p>
            <a:pPr lvl="0"/>
            <a:r>
              <a:rPr lang="en-NZ" sz="1900" b="1"/>
              <a:t>Hybrid Vector Index (Qdrant):</a:t>
            </a:r>
            <a:r>
              <a:rPr lang="en-NZ" sz="1900"/>
              <a:t> Combines dense semantic embeddings (BGE-small / OpenAI) with sparse BM25 vectors and visual CLIP frame embeddings.</a:t>
            </a:r>
          </a:p>
          <a:p>
            <a:pPr lvl="0"/>
            <a:r>
              <a:rPr lang="en-NZ" sz="1900" b="1"/>
              <a:t>Relational Ingest State (Postgres):</a:t>
            </a:r>
            <a:r>
              <a:rPr lang="en-NZ" sz="1900"/>
              <a:t> Tracks document states (pending, indexing, indexed) and spaces.</a:t>
            </a:r>
          </a:p>
          <a:p>
            <a:pPr lvl="0"/>
            <a:r>
              <a:rPr lang="en-NZ" sz="1900" b="1"/>
              <a:t>Immutable Locator Contract:</a:t>
            </a:r>
            <a:r>
              <a:rPr lang="en-NZ" sz="1900"/>
              <a:t> Every point in the index is stamped with an immutable locator: {start_ms, end_ms} for videos, {page} for papers, and {slide} for presentation decks.</a:t>
            </a:r>
          </a:p>
          <a:p>
            <a:pPr marL="0" indent="0">
              <a:buNone/>
            </a:pPr>
            <a:endParaRPr lang="en-NZ" sz="1900"/>
          </a:p>
        </p:txBody>
      </p:sp>
    </p:spTree>
    <p:extLst>
      <p:ext uri="{BB962C8B-B14F-4D97-AF65-F5344CB8AC3E}">
        <p14:creationId xmlns:p14="http://schemas.microsoft.com/office/powerpoint/2010/main" val="494917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D1ED4-5085-0A48-BEFC-CAB9DD96C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NZ" sz="4000" b="1">
                <a:solidFill>
                  <a:srgbClr val="FFFFFF"/>
                </a:solidFill>
              </a:rPr>
              <a:t>Part 1 — Baseline Semantic Search RAG</a:t>
            </a:r>
            <a:endParaRPr lang="en-NZ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A2BB4-A578-2138-6816-1A9BAFD54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lvl="0"/>
            <a:r>
              <a:rPr lang="en-NZ" sz="1700" b="1"/>
              <a:t>Implementation:</a:t>
            </a:r>
            <a:endParaRPr lang="en-NZ" sz="1700"/>
          </a:p>
          <a:p>
            <a:pPr lvl="1"/>
            <a:r>
              <a:rPr lang="en-NZ" sz="1700"/>
              <a:t>Extracted raw subtitle transcript via YouTube transcript API.</a:t>
            </a:r>
          </a:p>
          <a:p>
            <a:pPr lvl="1"/>
            <a:r>
              <a:rPr lang="en-NZ" sz="1700"/>
              <a:t>Applied standard fixed-size chunking (500 characters, 50-character sliding overlap).</a:t>
            </a:r>
          </a:p>
          <a:p>
            <a:pPr lvl="1"/>
            <a:r>
              <a:rPr lang="en-NZ" sz="1700"/>
              <a:t>Stored dense embeddings in Qdrant with minimal metadata.</a:t>
            </a:r>
          </a:p>
          <a:p>
            <a:pPr lvl="1"/>
            <a:r>
              <a:rPr lang="en-NZ" sz="1700"/>
              <a:t>Retrieved top-k chunks by cosine distance and concatenated text into prompt context.</a:t>
            </a:r>
          </a:p>
          <a:p>
            <a:pPr lvl="0"/>
            <a:r>
              <a:rPr lang="en-NZ" sz="1700" b="1"/>
              <a:t>Identified Failure Modes:</a:t>
            </a:r>
            <a:endParaRPr lang="en-NZ" sz="1700"/>
          </a:p>
          <a:p>
            <a:pPr lvl="1"/>
            <a:r>
              <a:rPr lang="en-NZ" sz="1700"/>
              <a:t>Cut sentences and mathematical definitions across chunk boundaries.</a:t>
            </a:r>
          </a:p>
          <a:p>
            <a:pPr lvl="1"/>
            <a:r>
              <a:rPr lang="en-NZ" sz="1700"/>
              <a:t>Zero temporal fidelity — users could not tell where in the 8-minute video the concept appeared.</a:t>
            </a:r>
          </a:p>
          <a:p>
            <a:pPr lvl="1"/>
            <a:r>
              <a:rPr lang="en-NZ" sz="1700"/>
              <a:t>Ignored on-screen diagrams entirely.</a:t>
            </a:r>
          </a:p>
          <a:p>
            <a:pPr lvl="1"/>
            <a:r>
              <a:rPr lang="en-NZ" sz="1700"/>
              <a:t>Hallucinated timestamps due to lack of structured locators.</a:t>
            </a:r>
          </a:p>
          <a:p>
            <a:pPr marL="0" indent="0">
              <a:buNone/>
            </a:pPr>
            <a:endParaRPr lang="en-NZ" sz="1700"/>
          </a:p>
        </p:txBody>
      </p:sp>
    </p:spTree>
    <p:extLst>
      <p:ext uri="{BB962C8B-B14F-4D97-AF65-F5344CB8AC3E}">
        <p14:creationId xmlns:p14="http://schemas.microsoft.com/office/powerpoint/2010/main" val="4005631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8944C6-B1ED-D8BC-6110-1EB107DBF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NZ" sz="4000" b="1">
                <a:solidFill>
                  <a:srgbClr val="FFFFFF"/>
                </a:solidFill>
              </a:rPr>
              <a:t>Part 2 — Moment RAG Implementation</a:t>
            </a:r>
            <a:endParaRPr lang="en-NZ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8F3B3-F0ED-43BB-3B07-13BD2B684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lvl="0"/>
            <a:r>
              <a:rPr lang="en-NZ" sz="1700" b="1"/>
              <a:t>Implementation:</a:t>
            </a:r>
            <a:endParaRPr lang="en-NZ" sz="1700"/>
          </a:p>
          <a:p>
            <a:pPr lvl="1"/>
            <a:r>
              <a:rPr lang="en-NZ" sz="1700" b="1"/>
              <a:t>Temporal Moment Partitioning:</a:t>
            </a:r>
            <a:r>
              <a:rPr lang="en-NZ" sz="1700"/>
              <a:t> Transcripts are grouped along speech pauses, silence intervals, and sentence completion boundaries (15–30s segments).</a:t>
            </a:r>
          </a:p>
          <a:p>
            <a:pPr lvl="1"/>
            <a:r>
              <a:rPr lang="en-NZ" sz="1700" b="1"/>
              <a:t>Multimodal Synchronization:</a:t>
            </a:r>
            <a:r>
              <a:rPr lang="en-NZ" sz="1700"/>
              <a:t> Extracted video frames every 2–4s via FFmpeg and embedded visual features using CLIP ViT-B/32.</a:t>
            </a:r>
          </a:p>
          <a:p>
            <a:pPr lvl="1"/>
            <a:r>
              <a:rPr lang="en-NZ" sz="1700" b="1"/>
              <a:t>Structured Citation Contract:</a:t>
            </a:r>
            <a:r>
              <a:rPr lang="en-NZ" sz="1700"/>
              <a:t> LLM receives structured XML &lt;context id="c1" kind="video" start_ms="142000" ...&gt; and emits [1] citations that deterministically map to video playback timestamps (youtu.be/LPZh9BOjkQs?t=142).</a:t>
            </a:r>
          </a:p>
          <a:p>
            <a:pPr lvl="1"/>
            <a:r>
              <a:rPr lang="en-NZ" sz="1700" b="1"/>
              <a:t>Multi-Source Unification (ARGUS):</a:t>
            </a:r>
            <a:r>
              <a:rPr lang="en-NZ" sz="1700"/>
              <a:t> Extended video moments to research papers ({page}) and slide decks ({slide}) in one shared index with Reciprocal Rank Fusion (RRF).</a:t>
            </a:r>
          </a:p>
        </p:txBody>
      </p:sp>
    </p:spTree>
    <p:extLst>
      <p:ext uri="{BB962C8B-B14F-4D97-AF65-F5344CB8AC3E}">
        <p14:creationId xmlns:p14="http://schemas.microsoft.com/office/powerpoint/2010/main" val="2697878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C74886-D0DF-4EF7-ADEF-FEE0AE8E9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NZ" sz="3700" b="1">
                <a:solidFill>
                  <a:srgbClr val="FFFFFF"/>
                </a:solidFill>
              </a:rPr>
              <a:t>Direct Comparison (Baseline vs. Moment RAG)</a:t>
            </a:r>
            <a:endParaRPr lang="en-NZ" sz="37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EEF427-3AA4-2AAB-2B54-A0D9A402DD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9604927"/>
              </p:ext>
            </p:extLst>
          </p:nvPr>
        </p:nvGraphicFramePr>
        <p:xfrm>
          <a:off x="4905052" y="1518038"/>
          <a:ext cx="6666834" cy="3918727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1700911">
                  <a:extLst>
                    <a:ext uri="{9D8B030D-6E8A-4147-A177-3AD203B41FA5}">
                      <a16:colId xmlns:a16="http://schemas.microsoft.com/office/drawing/2014/main" val="3093943988"/>
                    </a:ext>
                  </a:extLst>
                </a:gridCol>
                <a:gridCol w="2500849">
                  <a:extLst>
                    <a:ext uri="{9D8B030D-6E8A-4147-A177-3AD203B41FA5}">
                      <a16:colId xmlns:a16="http://schemas.microsoft.com/office/drawing/2014/main" val="690212950"/>
                    </a:ext>
                  </a:extLst>
                </a:gridCol>
                <a:gridCol w="2465074">
                  <a:extLst>
                    <a:ext uri="{9D8B030D-6E8A-4147-A177-3AD203B41FA5}">
                      <a16:colId xmlns:a16="http://schemas.microsoft.com/office/drawing/2014/main" val="3531980077"/>
                    </a:ext>
                  </a:extLst>
                </a:gridCol>
              </a:tblGrid>
              <a:tr h="3674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Dimension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Baseline Semantic RAG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Moment RAG (ARGUS)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883932"/>
                  </a:ext>
                </a:extLst>
              </a:tr>
              <a:tr h="5598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Chunking Unit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Arbitrary fixed character window (500 chars)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Natural acoustic pauses &amp; semantic speech units (15–30s)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278257"/>
                  </a:ext>
                </a:extLst>
              </a:tr>
              <a:tr h="7521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Context Integrity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Fragments sentences across chunk edges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Keeps complete thoughts, formulas, and visual context intact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286053"/>
                  </a:ext>
                </a:extLst>
              </a:tr>
              <a:tr h="5598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Grounding / Locators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Vague video URL; frequent LLM hallucination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Exact playback timestamp (M:SS), page (p.N), or slide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713184"/>
                  </a:ext>
                </a:extLst>
              </a:tr>
              <a:tr h="5598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Modality Support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Audio transcript text only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Fuses audio transcript + visual CLIP frame embeddings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896555"/>
                  </a:ext>
                </a:extLst>
              </a:tr>
              <a:tr h="5598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Cross-Source Scope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Single video transcript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Unified search across Video, Research Papers, and Decks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04861"/>
                  </a:ext>
                </a:extLst>
              </a:tr>
              <a:tr h="5598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Citation Precision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High hallucination &amp; snippet noise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sz="1300" cap="none" spc="0">
                          <a:solidFill>
                            <a:schemeClr val="tx1"/>
                          </a:solidFill>
                          <a:effectLst/>
                        </a:rPr>
                        <a:t>100% deterministic grounding verified at system boundary</a:t>
                      </a:r>
                      <a:endParaRPr lang="en-NZ" sz="13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65446" marR="46747" marT="48695" marB="93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589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280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03C12C-D0BA-A252-F2EC-9F009E1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NZ" sz="4000" b="1">
                <a:solidFill>
                  <a:srgbClr val="FFFFFF"/>
                </a:solidFill>
              </a:rPr>
              <a:t> Key Findings &amp; Evaluation Results</a:t>
            </a:r>
            <a:endParaRPr lang="en-NZ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FE3586-8DB7-4446-522A-14BBE94E33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384448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9584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CF7B83-9318-DE72-5C22-9964DFA46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NZ" sz="4000" b="1">
                <a:solidFill>
                  <a:srgbClr val="FFFFFF"/>
                </a:solidFill>
              </a:rPr>
              <a:t>Limitations &amp; Future Roadmap</a:t>
            </a:r>
            <a:endParaRPr lang="en-NZ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11E0F7-80D4-3A0E-CAA6-14A6ED77A6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18747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7694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816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-apple-system</vt:lpstr>
      <vt:lpstr>Aptos</vt:lpstr>
      <vt:lpstr>Aptos Display</vt:lpstr>
      <vt:lpstr>Arial</vt:lpstr>
      <vt:lpstr>Office Theme</vt:lpstr>
      <vt:lpstr>Assignment 3 Submission: Implement Semantic Search to Moment Search (ARGUS)</vt:lpstr>
      <vt:lpstr>From Semantic Search to Moment RAG: Precision Multimodal Retrieval at Scale</vt:lpstr>
      <vt:lpstr>Video Selected &amp; Technical Rationale</vt:lpstr>
      <vt:lpstr>Architecture Understanding of Moment RAG</vt:lpstr>
      <vt:lpstr>Part 1 — Baseline Semantic Search RAG</vt:lpstr>
      <vt:lpstr>Part 2 — Moment RAG Implementation</vt:lpstr>
      <vt:lpstr>Direct Comparison (Baseline vs. Moment RAG)</vt:lpstr>
      <vt:lpstr> Key Findings &amp; Evaluation Results</vt:lpstr>
      <vt:lpstr>Limitations &amp; Future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Madhavan Ekanathan</dc:creator>
  <cp:lastModifiedBy>Madhavan Ekanathan</cp:lastModifiedBy>
  <cp:revision>1</cp:revision>
  <dcterms:created xsi:type="dcterms:W3CDTF">2026-09-26T05:05:21Z</dcterms:created>
  <dcterms:modified xsi:type="dcterms:W3CDTF">2026-09-26T05:12:21Z</dcterms:modified>
</cp:coreProperties>
</file>